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關鍵安排：開課 25 分鐘內就要送出第 07 章的下載與官方測試，讓 pipeline 在背景跑，同時上第 05、06 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請兩三位學員分享他們的 skill 有哪些課程 Skills 沒寫的經驗，這是本段最重要的學習點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參考答案（講師 2026-09-23 實測）：1. 每個樣本約 12–30 萬條 raw reads，Cutadapt 保留約 88–97%，DADA2 後每個樣本約 9–24 萬條，共 125 個 ASV；2. 幾乎全部是 Bacillota（約 99.7%），屬以 Lactobacillus（約 87%）與 Staphylococcus（約 12%）為主；3. MSEW 的 Shannon（約 0.43–1.03）整體比 Control（約 0.13–0.54）高，但每組只有 3 個樣本；4. Bray-Curtis 的 PERMANOVA p = 0.291，不顯著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https://gemini960114.github.io/Nano4-Doc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emini960114.github.io/Nano4-Docs/guide/course_plan#5-&#31532;&#19977;&#22530;&#36914;&#38542;&#33287;&#30495;&#23526;&#26696;&#20363;&#31532;-0507-&#31456;3-&#23567;&#26178;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emini960114.github.io/Nano4-Docs/guide/05_ai_agent_slurm_pipeline" TargetMode="External"/><Relationship Id="rId4" Type="http://schemas.openxmlformats.org/officeDocument/2006/relationships/hyperlink" Target="https://gemini960114.github.io/Nano4-Docs/guide/06_skills_hub" TargetMode="External"/><Relationship Id="rId5" Type="http://schemas.openxmlformats.org/officeDocument/2006/relationships/hyperlink" Target="https://gemini960114.github.io/Nano4-Docs/guide/07_nfcore_ampliseq_case_study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emini960114.github.io/Nano4-Docs/guide/02_vscode_and_ai_tools#&#27493;&#39519;-e&#24375;&#28872;&#24314;&#35696;&#29992;-ssh-proxy-&#21482;&#20570;&#19968;&#27425;-2fa-&#35469;&#35657;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emini960114.github.io/Nano4-Docs/guide/03_slurm_syntax_and_job_management#c-nano4-&#24120;&#29992;&#20295;&#21015;&#28165;&#21934;&#33287;-qos-&#38480;&#21046;" TargetMode="External"/><Relationship Id="rId4" Type="http://schemas.openxmlformats.org/officeDocument/2006/relationships/hyperlink" Target="https://man.twcc.ai/@nano4-manual/SJM_FuxDW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emini960114.github.io/Nano4-Docs/guide/07_nfcore_ampliseq_case_study#22-&#20808;&#20633;&#27298;&#26597;" TargetMode="External"/><Relationship Id="rId4" Type="http://schemas.openxmlformats.org/officeDocument/2006/relationships/hyperlink" Target="https://gemini960114.github.io/Nano4-Docs/guide/07_nfcore_ampliseq_case_study#21-&#22283;&#32178;&#38626;&#32218;-nf-core-&#29872;&#22659;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emini960114.github.io/Nano4-Docs/guide/07_nfcore_ampliseq_case_study#32-&#19979;&#36617;&#21450;&#39511;&#35657;&#30495;&#23526;-fastq" TargetMode="External"/><Relationship Id="rId4" Type="http://schemas.openxmlformats.org/officeDocument/2006/relationships/hyperlink" Target="https://github.com/gemini960114/Nano4-Docs/blob/main/07-nfcore-ampliseq-case-study/scripts/01_prepare_real_data.slur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emini960114.github.io/Nano4-Docs/guide/07_nfcore_ampliseq_case_study#33-&#22519;&#34892;&#23448;&#26041;-test-profile" TargetMode="External"/><Relationship Id="rId4" Type="http://schemas.openxmlformats.org/officeDocument/2006/relationships/hyperlink" Target="https://github.com/gemini960114/Nano4-Docs/blob/main/07-nfcore-ampliseq-case-study/scripts/02_run_official_test.slur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emini960114.github.io/Nano4-Docs/guide/07_nfcore_ampliseq_case_study#06-&#22519;&#34892;&#26178;&#20320;&#26371;&#30475;&#21040;&#20160;&#40636;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emini960114.github.io/Nano4-Docs/guide/07_nfcore_ampliseq_case_study#0-&#26412;&#31456;&#25925;&#20107;&#19968;&#20301;&#30740;&#31350;&#29983;&#30340;&#19968;&#22825;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emini960114.github.io/Nano4-Docs/guide/07_nfcore_ampliseq_case_study#04-&#28858;&#20160;&#40636;&#19968;&#23450;&#35201;&#20808;&#36305;-test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emini960114.github.io/Nano4-Docs/guide/03_slurm_syntax_and_job_management#-lab-9&#29992;-apptainer-&#23481;&#22120;&#22519;&#34892;-multiqc&#31532;-04-&#31456;&#20043;&#24460;&#36914;&#34892;" TargetMode="External"/><Relationship Id="rId4" Type="http://schemas.openxmlformats.org/officeDocument/2006/relationships/hyperlink" Target="https://gemini960114.github.io/Nano4-Docs/guide/03_slurm_syntax_and_job_management#7-hpc-&#23481;&#22120;&#21270;&#25216;&#34899;singularity--apptainer-&#23526;&#21209;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emini960114.github.io/Nano4-Docs/guide/03_slurm_syntax_and_job_management#-lab-9&#29992;-apptainer-&#23481;&#22120;&#22519;&#34892;-multiqc&#31532;-04-&#31456;&#20043;&#24460;&#36914;&#34892;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emini960114.github.io/Nano4-Docs/guide/05_ai_agent_slurm_pipeline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emini960114.github.io/Nano4-Docs/guide/05_ai_agent_slurm_pipeline#1-&#28858;&#20160;&#40636;&#35201;&#23559;&#33139;&#26412;&#27966;&#36865;&#33267;-slurm-&#20295;&#21015;" TargetMode="External"/><Relationship Id="rId4" Type="http://schemas.openxmlformats.org/officeDocument/2006/relationships/hyperlink" Target="https://man.twcc.ai/@nano4-manual/BkRXxZ_JMg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emini960114.github.io/Nano4-Docs/guide/05_ai_agent_slurm_pipeline#2-&#35531;-ai-agent-&#33258;&#21205;&#37325;&#27083;-slurm-&#33139;&#26412;-prompt-&#25216;&#24039;" TargetMode="External"/><Relationship Id="rId4" Type="http://schemas.openxmlformats.org/officeDocument/2006/relationships/hyperlink" Target="https://github.com/gemini960114/Nano4-Docs/blob/main/05-ai-agent-slurm-pipeline/prompts/ai_prompt_convert_to_slurm.md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emini960114.github.io/Nano4-Docs/guide/05_ai_agent_slurm_pipeline#3-nano4-&#20841;&#22823;&#36939;&#31639;&#26550;&#27083;&#23565;&#27604;&#38626;&#32218;&#36939;&#31639;-vs-&#22806;&#32178;&#30452;&#36899;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emini960114.github.io/Nano4-Docs/guide/05_ai_agent_slurm_pipeline#4-&#23526;&#25136;&#26696;&#20363;-a&#20107;&#21069;&#36039;&#26009;&#19979;&#36617;--&#39640;&#36895;&#38626;&#32218;&#36939;&#31639;&#27169;&#24335;" TargetMode="External"/><Relationship Id="rId4" Type="http://schemas.openxmlformats.org/officeDocument/2006/relationships/hyperlink" Target="https://github.com/gemini960114/Nano4-Docs/blob/main/05-ai-agent-slurm-pipeline/case_a_offline/02_submit_offline_qc.slur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emini960114.github.io/Nano4-Docs/guide/05_ai_agent_slurm_pipeline#5-&#23526;&#25136;&#26696;&#20363;-b&#35336;&#31639;&#31680;&#40670;&#22806;&#32178;&#30452;&#36899;--&#21205;&#24907;&#19979;&#36617;&#27169;&#24335;" TargetMode="External"/><Relationship Id="rId4" Type="http://schemas.openxmlformats.org/officeDocument/2006/relationships/hyperlink" Target="https://github.com/gemini960114/Nano4-Docs/blob/main/05-ai-agent-slurm-pipeline/case_b_online/run_online_pipeline.slur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gemini960114.github.io/Nano4-Docs/guide/05_ai_agent_slurm_pipeline#6-&#32080;&#26524;&#27298;&#39511;&#25928;&#33021;&#20998;&#26512;-seff-&#33287;&#25104;&#26524;&#21295;&#32317;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emini960114.github.io/Nano4-Docs/guide/06_skills_hub" TargetMode="External"/><Relationship Id="rId4" Type="http://schemas.openxmlformats.org/officeDocument/2006/relationships/hyperlink" Target="https://gemini960114.github.io/Nano4-Docs/guide/06_skills_hub#-&#25216;&#33021;&#24235;&#28165;&#21934;-skills-catalog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gemini960114.github.io/Nano4-Docs/guide/06_skills_hub#-&#24555;&#36895;&#23433;&#35037;&#33287;&#21855;&#29992;" TargetMode="External"/><Relationship Id="rId4" Type="http://schemas.openxmlformats.org/officeDocument/2006/relationships/hyperlink" Target="https://github.com/gemini960114/Nano4-Docs/blob/main/06-skills-hub/sync_skills.sh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gemini960114.github.io/Nano4-Docs/guide/06_skills_hub#&#65039;-&#20839;&#24314;&#23526;&#29992;&#24037;&#20855;&#36895;&#26597;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emini960114.github.io/Nano4-Docs/guide/06_skills_hub#-&#32244;&#32722;&#35731;-skill-&#25235;&#20986;&#19981;&#21512;&#35215;&#30340;-slurm-&#33139;&#26412;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gemini960114.github.io/Nano4-Docs/guide/06_skills_hub#-&#32244;&#32722;&#35731;-skill-&#25235;&#20986;&#19981;&#21512;&#35215;&#30340;-slurm-&#33139;&#26412;" TargetMode="External"/><Relationship Id="rId4" Type="http://schemas.openxmlformats.org/officeDocument/2006/relationships/hyperlink" Target="https://github.com/gemini960114/Nano4-Docs/blob/main/06-skills-hub/slurm-job-advisor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emini960114.github.io/Nano4-Docs/guide/06_skills_hub#-&#32244;&#32722;&#27604;&#36611;&#25105;&#30340;-skill-&#33287;&#35506;&#31243;-skills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gemini960114.github.io/Nano4-Docs/guide/06_skills_hub#-&#32244;&#32722;&#27604;&#36611;&#25105;&#30340;-skill-&#33287;&#35506;&#31243;-skills" TargetMode="External"/><Relationship Id="rId4" Type="http://schemas.openxmlformats.org/officeDocument/2006/relationships/hyperlink" Target="https://github.com/gemini960114/Nano4-Docs/blob/main/03-slurm-syntax-and-job-management/scripts/install_my_skill.sh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gemini960114.github.io/Nano4-Docs/guide/07_nfcore_ampliseq_case_study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gemini960114.github.io/Nano4-Docs/guide/07_nfcore_ampliseq_case_study#33-&#22519;&#34892;&#23448;&#26041;-test-profile" TargetMode="External"/><Relationship Id="rId4" Type="http://schemas.openxmlformats.org/officeDocument/2006/relationships/hyperlink" Target="https://github.com/gemini960114/Nano4-Docs/blob/main/07-nfcore-ampliseq-case-study/scripts/04_inspect_results.sh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gemini960114.github.io/Nano4-Docs/guide/07_nfcore_ampliseq_case_study#1-&#26412;&#31456;&#20351;&#29992;&#30340;&#20841;&#22871;&#36039;&#26009;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gemini960114.github.io/Nano4-Docs/guide/07_nfcore_ampliseq_case_study#12-&#20844;&#38283;&#30740;&#31350;-prjna605008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gemini960114.github.io/Nano4-Docs/guide/07_nfcore_ampliseq_case_study#05-nf-coreampliseq-&#24171;&#23567;&#26519;&#20570;&#20102;&#20160;&#40636;" TargetMode="External"/><Relationship Id="rId4" Type="http://schemas.openxmlformats.org/officeDocument/2006/relationships/hyperlink" Target="https://nf-co.re/ampliseq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gemini960114.github.io/Nano4-Docs/guide/07_nfcore_ampliseq_case_study#34-&#22519;&#34892;&#30495;&#23526;&#36039;&#26009;" TargetMode="External"/><Relationship Id="rId4" Type="http://schemas.openxmlformats.org/officeDocument/2006/relationships/hyperlink" Target="https://github.com/gemini960114/Nano4-Docs/blob/main/07-nfcore-ampliseq-case-study/scripts/03_run_real_data.slurm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gemini960114.github.io/Nano4-Docs/guide/07_nfcore_ampliseq_case_study#4-&#31532;&#20108;&#38542;&#27573;&#35731;-ai-agent-&#37325;&#20570;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gemini960114/Nano4-Docs/releases/tag/ampliseq-demo-2026-09-23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4" Type="http://schemas.openxmlformats.org/officeDocument/2006/relationships/hyperlink" Target="https://gemini960114.github.io/Nano4-Docs/guide/07_nfcore_ampliseq_case_study#51-&#36996;&#27794;&#36305;&#23436;&#30495;&#23526;&#36039;&#26009;&#20808;&#30475;&#35611;&#24107;&#30340;&#31034;&#31684;&#32080;&#26524;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gemini960114.github.io/Nano4-Docs/guide/07_nfcore_ampliseq_case_study#51-&#36996;&#27794;&#36305;&#23436;&#30495;&#23526;&#36039;&#26009;&#20808;&#30475;&#35611;&#24107;&#30340;&#31034;&#31684;&#32080;&#26524;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gemini960114.github.io/Nano4-Docs/guide/07_nfcore_ampliseq_case_study#52-&#27298;&#26597;&#20320;&#33258;&#24049;&#36305;&#20986;&#20358;&#30340;&#32080;&#26524;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gemini960114.github.io/Nano4-Docs/guide/07_nfcore_ampliseq_case_study#6-&#31532;&#22235;&#38542;&#27573;&#23553;&#35037;&#20006;&#20351;&#29992;-skill" TargetMode="External"/><Relationship Id="rId4" Type="http://schemas.openxmlformats.org/officeDocument/2006/relationships/hyperlink" Target="https://github.com/gemini960114/Nano4-Docs/blob/main/06-skills-hub/nfcore-ampliseq-nano4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gemini960114.github.io/Nano4-Docs/guide/07_nfcore_ampliseq_case_study#7-&#32371;&#20132;&#20839;&#23481;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gemini960114.github.io/Nano4-Docs/guide/00_course_syllabus" TargetMode="External"/><Relationship Id="rId4" Type="http://schemas.openxmlformats.org/officeDocument/2006/relationships/hyperlink" Target="https://gemini960114.github.io/Nano4-Docs/guide/course_plan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gemini960114.github.io/Nano4-Docs/guide/agents_governance" TargetMode="External"/><Relationship Id="rId4" Type="http://schemas.openxmlformats.org/officeDocument/2006/relationships/hyperlink" Target="https://gemini960114.github.io/Nano4-Docs/guide/02_vscode_and_ai_tools#4-&#19977;&#20491;-agent-&#24590;&#40636;&#35712;&#21040;-nano4-&#30340;&#35215;&#21063;&#33287;-skills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gemini960114.github.io/Nano4-Docs/guide/course_plan#6-&#36039;&#28304;&#23481;&#37327;&#33287;&#25490;&#38538;&#27880;&#24847;&#20107;&#38917;" TargetMode="External"/><Relationship Id="rId4" Type="http://schemas.openxmlformats.org/officeDocument/2006/relationships/hyperlink" Target="https://man.twcc.ai/@nano4-manual/SJM_FuxDWe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gemini960114.github.io/Nano4-Docs/guide/04_ai_assisted_bio_pipeline#3-&#35531;-ai-agent-&#25776;&#23531;&#20998;&#26512;&#33139;&#26412;-prompt-&#25552;&#31034;&#35422;&#25216;&#24039;" TargetMode="External"/><Relationship Id="rId4" Type="http://schemas.openxmlformats.org/officeDocument/2006/relationships/hyperlink" Target="https://gemini960114.github.io/Nano4-Docs/guide/06_skills_hub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hyperlink" Target="https://man.twcc.ai/xOYzPATVS_aDlbuqMrwhyg" TargetMode="External"/><Relationship Id="rId2" Type="http://schemas.openxmlformats.org/officeDocument/2006/relationships/hyperlink" Target="https://man.twcc.ai/@nano4-manual/documentation" TargetMode="External"/><Relationship Id="rId3" Type="http://schemas.openxmlformats.org/officeDocument/2006/relationships/hyperlink" Target="https://man.twcc.ai/@nano4-manual/SJM_FuxDWe" TargetMode="External"/><Relationship Id="rId4" Type="http://schemas.openxmlformats.org/officeDocument/2006/relationships/hyperlink" Target="https://man.twcc.ai/@nano4-manual/BkRXxZ_JMg" TargetMode="External"/><Relationship Id="rId5" Type="http://schemas.openxmlformats.org/officeDocument/2006/relationships/hyperlink" Target="https://man.twcc.ai/@nano4-manual/ry1hWDlPbl" TargetMode="External"/><Relationship Id="rId6" Type="http://schemas.openxmlformats.org/officeDocument/2006/relationships/hyperlink" Target="https://github.com/gemini960114/Nano4-Docs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0.xml"/><Relationship Id="rId9" Type="http://schemas.openxmlformats.org/officeDocument/2006/relationships/hyperlink" Target="https://gemini960114.github.io/Nano4-Docs/guide/00_course_syllabus#-&#22283;&#32178;&#20013;&#24515;&#23448;&#26041;&#21443;&#32771;&#25216;&#34899;&#25991;&#20214;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hyperlink" Target="https://gemini960114.github.io/Nano4-Docs/" TargetMode="External"/><Relationship Id="rId2" Type="http://schemas.openxmlformats.org/officeDocument/2006/relationships/hyperlink" Target="https://github.com/gemini960114/Nano4-Docs/releases/tag/ampliseq-demo-2026-09-23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37160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Nano4 GP1 生醫 HPC 課程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51460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第三堂：進階與真實案例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52044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05 章　AI Agent 自動化 Slurm 排程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406908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06 章　AI Agent 技能總匯庫（Skills Hub）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61772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07 章　nf-core/ampliseq 真實 16S 案例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516636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補充　　　課程回顧與延伸資源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571500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📖 線上講義：</a:t>
            </a:r>
            <a:r>
              <a:rPr lang="en-US" sz="2000" u="sng" dirty="0">
                <a:solidFill>
                  <a:srgbClr val="FFE7A3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https://gemini960114.github.io/Nano4-Docs/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今天的時間表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2337628"/>
                <a:gridCol w="8665347"/>
              </a:tblGrid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0:00–0:10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複習、重新連線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0:10–0:25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先送出第 07 章作業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（下載資料、官方測試）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0:25–0:35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07 章故事：一位研究生的一天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0:35–0:50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Apptainer 容器（第 03 章 Lab 9）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0:50–1:15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05 章：請 AI 把流程改寫成 Slurm 管線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1:15–1:25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☕ 休息（順便看一次第 07 章進度）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1:25–1:45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06 章：安裝課程 Skills，用 Skill 抓錯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1:45–2:05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06 章：比較我的 skill 與課程 Skills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2:05–2:15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檢查官方測試結果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2:15–2:50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講師示範：解讀 ampliseq 真實資料結果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2:50–3:00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總結、說明繳交內容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課程規劃：第三堂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今天結束時，你會做到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270383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在計算節點用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Apptainer 容器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執行分析，不需要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 load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 AI Agent 把分析流程改寫成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外網直連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 Slurm 作業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Skill 抓出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 --test-only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漏掉的錯誤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 skill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和課程 Skills，把值得學的補進自己的 skill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 nf-core/ampliseq 的官方測試與真實 16S 腸道菌相分析結果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第 05 章講義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第 06 章講義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第 07 章講義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上課前：重新連線 ✋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457912"/>
                <a:gridCol w="8922746"/>
                <a:gridCol w="1622317"/>
              </a:tblGrid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完成了嗎？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604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在自己電腦啟動 ssh-proxy，完成一次密碼與 OTP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300" dirty="0">
                          <a:solidFill>
                            <a:srgbClr val="1B3A6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4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Antigravity 用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Connect to Host...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連上 </a:t>
                      </a:r>
                      <a:r>
                        <a:rPr lang="en-US" sz="1700" b="1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nano4-proxy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300" dirty="0">
                          <a:solidFill>
                            <a:srgbClr val="1B3A6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04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更新課程教材（指令如下）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300" dirty="0">
                          <a:solidFill>
                            <a:srgbClr val="1B3A6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4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第二堂做的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~/.agents/skills/my-nano4-slurm/SKILL.md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還在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300" dirty="0">
                          <a:solidFill>
                            <a:srgbClr val="1B3A6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94360" y="4408322"/>
            <a:ext cx="11002975" cy="905256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4481474"/>
            <a:ext cx="10820095" cy="7589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git pull --ff-only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§2 步驟 E ssh-proxy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本課程的固定設定（請記住）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1499616"/>
          </a:xfrm>
          <a:prstGeom prst="roundRect">
            <a:avLst>
              <a:gd name="adj" fmla="val 3659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13533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計畫代號：GOV115088（國網生技醫藥高效能運算推廣與應用計畫）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佇列：    ngs62g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規格：    每個作業固定 -c 8 --mem=62G（國網官方規定，不可自行縮減）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環境：    CPU-only，本次不使用 GPU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980944"/>
            <a:ext cx="11002975" cy="1109980"/>
          </a:xfrm>
          <a:prstGeom prst="roundRect">
            <a:avLst>
              <a:gd name="adj" fmla="val 6590"/>
            </a:avLst>
          </a:prstGeom>
          <a:solidFill>
            <a:srgbClr val="EEF3FB"/>
          </a:solidFill>
          <a:ln w="12700">
            <a:solidFill>
              <a:srgbClr val="B9CC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054096"/>
            <a:ext cx="10728655" cy="96367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07 章的 Nextflow 主控作業與所有子工作，也都送到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，每個都申請 8 核心 / 62 GB。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§2-C 佇列規格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Slurm 佇列與資源規格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19456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開課先做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33756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送出第 07 章的作業，讓它在背景跑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先送出 ①：先備檢查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1002975" cy="2391156"/>
          </a:xfrm>
          <a:prstGeom prst="roundRect">
            <a:avLst>
              <a:gd name="adj" fmla="val 2294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53312"/>
            <a:ext cx="10820095" cy="22448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"$HOME/Nano4-Docs/07-nfcore-ampliseq-case-study"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hostname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wallet GOV115088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 load biology/nf-core-ampliseq/2.18.0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nextflow -version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singularity --version || apptainer --version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 purge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872484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執行唯讀 preflight，確認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GOV115088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與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的授權：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4687570"/>
            <a:ext cx="11002975" cy="1301496"/>
          </a:xfrm>
          <a:prstGeom prst="roundRect">
            <a:avLst>
              <a:gd name="adj" fmla="val 4215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4760722"/>
            <a:ext cx="10820095" cy="11551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"$HOME/Nano4-Docs/06-skills-hub/nano4-slurm-operations/scripts/slurm-preflight.sh" \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--project GOV115088 \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--partition ngs62g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10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07 章 §2.2 先備檢查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07 章 §2.1 離線 nf-core 環境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先送出 ②：下載並驗證真實 FASTQ（約 5 分鐘）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542671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在計算節點下載約 286 MB 的 ENA FASTQ，逐檔核對 MD5，並建立 samplesheet：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" y="2023999"/>
            <a:ext cx="11002975" cy="2044446"/>
          </a:xfrm>
          <a:prstGeom prst="roundRect">
            <a:avLst>
              <a:gd name="adj" fmla="val 2684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97151"/>
            <a:ext cx="10820095" cy="189814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export NFCORE_ACCOUNT=GOV115088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export NFCORE_PARTITION=ngs62g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 \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--account="${NFCORE_ACCOUNT}" \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--partition="${NFCORE_PARTITION}" \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scripts/01_prepare_real_data.slurm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4269613"/>
            <a:ext cx="11002975" cy="542671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提交後記下 Job ID，只做一次狀態快照：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5013452"/>
            <a:ext cx="11002975" cy="558546"/>
          </a:xfrm>
          <a:prstGeom prst="roundRect">
            <a:avLst>
              <a:gd name="adj" fmla="val 982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5086604"/>
            <a:ext cx="10820095" cy="41224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squeue -j '&lt;JOB_ID&gt;'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773166"/>
            <a:ext cx="11002975" cy="542671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.err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日誌出現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Will retry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是正常的：ENA 偶爾中途斷線，腳本會自動續傳。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12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07 章 §3.2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01_prepare_real_data.slurm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先送出 ③：官方 test profile（約 28 分鐘）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1002975" cy="2292096"/>
          </a:xfrm>
          <a:prstGeom prst="roundRect">
            <a:avLst>
              <a:gd name="adj" fmla="val 2394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53312"/>
            <a:ext cx="10820095" cy="21457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export NFCORE_ACCOUNT=GOV115088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export NFCORE_PARTITION=ngs62g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 \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--account="${NFCORE_ACCOUNT}" \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--partition="${NFCORE_PARTITION}" \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--export=ALL,NFCORE_ACCOUNT,NFCORE_PARTITION \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scripts/02_run_official_test.slurm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3773424"/>
            <a:ext cx="11002975" cy="1796796"/>
          </a:xfrm>
          <a:prstGeom prst="roundRect">
            <a:avLst>
              <a:gd name="adj" fmla="val 305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846576"/>
            <a:ext cx="10820095" cy="16504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Slurm driver job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└── Nextflow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      ├── Slurm process: FastQC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      ├── Slurm process: Cutadapt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      ├── Slurm process: DADA2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      └── Slurm process: QIIME2 / MultiQC / reports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5771388"/>
            <a:ext cx="11002975" cy="542671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送出後就不用管它，等一下再回來看結果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10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07 章 §3.3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02_run_official_test.slurm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執行時你會看到什麼？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590169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只執行</a:t>
            </a:r>
            <a:r>
              <a:rPr lang="en-US" sz="21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</a:t>
            </a: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9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squeue --me</a:t>
            </a: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查看（不要用 </a:t>
            </a:r>
            <a:r>
              <a:rPr lang="en-US" sz="19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watch</a:t>
            </a: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反覆刷新）：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94360" y="2071497"/>
            <a:ext cx="11002975" cy="1433576"/>
          </a:xfrm>
          <a:prstGeom prst="roundRect">
            <a:avLst>
              <a:gd name="adj" fmla="val 3827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44649"/>
            <a:ext cx="10820095" cy="12872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JOBID PARTITION     NAME     USER ST   TIME NODES NODELIST(REASON)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425914    ngs62g ampliseq  student  R  03:12     1 25a-cpn01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425930    ngs62g nf-NFCOR  student  R  00:41     1 25a-cpn01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425931    ngs62g nf-NFCOR  student PD  00:00     1 (Priority)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706241"/>
          <a:ext cx="11002975" cy="914400"/>
        </p:xfrm>
        <a:graphic>
          <a:graphicData uri="http://schemas.openxmlformats.org/drawingml/2006/table">
            <a:tbl>
              <a:tblPr/>
              <a:tblGrid>
                <a:gridCol w="4590343"/>
                <a:gridCol w="6412632"/>
              </a:tblGrid>
              <a:tr h="489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你看到的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意思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796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ampliseq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ampliseq_test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）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主控作業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：裡面跑 Nextflow，一直執行到整條 pipeline 結束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6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nf-NFCOR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nf-NFCORE_AMPLISEQ_…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）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子作業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：pipeline 的某一步，會陸續出現、結束，可達上百個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89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PD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+ 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(Priority)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/ 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(Resources)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排隊等資源，屬正常現象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07 章 §0.6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07 章故事：一位研究生的一天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151638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研究問題</a:t>
            </a: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：幼鼠經歷早期壓力（MSEW：母鼠分離＋提早斷奶）後，腸道菌相會不會改變？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</a:t>
            </a: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：糞便樣本做 </a:t>
            </a:r>
            <a:r>
              <a:rPr lang="en-US" sz="15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16S rRNA 擴增子定序</a:t>
            </a: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，每條 read 就像細菌的「條碼」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：用作者公開的原始資料，在 Nano4 上把分析重現一次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課堂版本</a:t>
            </a: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：6 個樣本（3 個 Control、3 個 MSEW），分組完全照作者的 metadata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997708"/>
          <a:ext cx="11002975" cy="914400"/>
        </p:xfrm>
        <a:graphic>
          <a:graphicData uri="http://schemas.openxmlformats.org/drawingml/2006/table">
            <a:tbl>
              <a:tblPr/>
              <a:tblGrid>
                <a:gridCol w="6800153"/>
                <a:gridCol w="4202823"/>
              </a:tblGrid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小林的想法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對應章節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先搞懂資料從哪來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§1、§3.1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資料要下載完整、沒損壞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§3.2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先確認</a:t>
                      </a: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機器這關</a:t>
                      </a: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能過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§3.3 官方 test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環境沒問題了，才跑真實資料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§3.4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讀懂結果，不要過度解讀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§5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請 AI 再做一次，逐項檢查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§4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把做對的規則留下來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§6 Skill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13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07 章 §0 本章故事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為什麼一定要先跑 test？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分析失敗的原因只有兩大類：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95246"/>
          <a:ext cx="11002975" cy="914400"/>
        </p:xfrm>
        <a:graphic>
          <a:graphicData uri="http://schemas.openxmlformats.org/drawingml/2006/table">
            <a:tbl>
              <a:tblPr/>
              <a:tblGrid>
                <a:gridCol w="2487629"/>
                <a:gridCol w="8515346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類型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例子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環境問題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軟體、容器、Slurm 設定、權限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資料問題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檔案損壞、primer 錯誤、樣本表寫錯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3818890"/>
            <a:ext cx="11002975" cy="113639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 成功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環境沒問題，之後失敗就專心檢查資料與參數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 失敗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問題一定在環境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94360" y="5156454"/>
            <a:ext cx="11002975" cy="749300"/>
          </a:xfrm>
          <a:prstGeom prst="roundRect">
            <a:avLst>
              <a:gd name="adj" fmla="val 9763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229606"/>
            <a:ext cx="10728655" cy="60299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test 資料是「軟體測試用」，它的分組與圖表</a:t>
            </a:r>
            <a:r>
              <a:rPr lang="en-US" sz="2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拿來做生物學解讀。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14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07 章 §0.4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Lab 9：用 Apptainer 容器執行 MultiQC（1/2）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590169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先執行第 04 章 §5 的對照組（約 15 秒），產生 FastQC 結果：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94360" y="2071497"/>
            <a:ext cx="11002975" cy="1202436"/>
          </a:xfrm>
          <a:prstGeom prst="roundRect">
            <a:avLst>
              <a:gd name="adj" fmla="val 456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44649"/>
            <a:ext cx="10820095" cy="105613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"$HOME/Nano4-Docs/04-ai-assisted-bio-pipeline/scripts"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download_demo_fastq.sh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run_fastqc_multiqc.sh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475101"/>
            <a:ext cx="11002975" cy="590169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再送出容器作業（不載入任何模組，MultiQC 裝在容器裡）：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4360" y="4266438"/>
            <a:ext cx="11002975" cy="905256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339590"/>
            <a:ext cx="10820095" cy="7589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"$HOME/Nano4-Docs/03-slurm-syntax-and-job-management"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 templates/singularity_job.slurm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372862"/>
            <a:ext cx="11002975" cy="968883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作業會依序：確認主機上沒有 </a:t>
            </a:r>
            <a:r>
              <a:rPr lang="en-US" sz="19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multiqc</a:t>
            </a: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從 Docker Hub 拉取 </a:t>
            </a:r>
            <a:r>
              <a:rPr lang="en-US" sz="19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multiqc/multiqc:v1.35</a:t>
            </a: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在容器內執行 MultiQC。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12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Lab 9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03 章 §7 容器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Lab 9：查看結果（2/2）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1002975" cy="591566"/>
          </a:xfrm>
          <a:prstGeom prst="roundRect">
            <a:avLst>
              <a:gd name="adj" fmla="val 9274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53312"/>
            <a:ext cx="10820095" cy="44526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cat apptainer_multiqc-*.out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" y="2072894"/>
            <a:ext cx="11002975" cy="1994916"/>
          </a:xfrm>
          <a:prstGeom prst="roundRect">
            <a:avLst>
              <a:gd name="adj" fmla="val 2750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46046"/>
            <a:ext cx="10820095" cy="18486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[1] 主機上的 multiqc：找不到（正常，沒有載入模組）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[2] 拉取映像檔 docker://multiqc/multiqc:v1.35 ...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[3] 容器內的 MultiQC：multiqc, version 1.35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[4] 以容器執行 MultiQC ...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報告位置        : /work/&lt;帳號&gt;/apptainer_lab/multiqc_out/multiqc_report.html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268978"/>
            <a:ext cx="11002975" cy="2073021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報告內容和第 04 章用模組產生的相同，但這次</a:t>
            </a:r>
            <a:r>
              <a:rPr lang="en-US" sz="21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完全沒有 </a:t>
            </a:r>
            <a:r>
              <a:rPr lang="en-US" sz="19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 load</a:t>
            </a:r>
            <a:endParaRPr lang="en-US" sz="21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nf-core 也是用容器運作：這正是第 07 章在背景做的事</a:t>
            </a:r>
            <a:endParaRPr lang="en-US" sz="21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9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出現 </a:t>
            </a:r>
            <a:r>
              <a:rPr lang="en-US" sz="19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toomanyrequests</a:t>
            </a: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：Docker Hub 下載次數暫時到上限，10–15 分鐘後再送一次。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  <p:sp>
        <p:nvSpPr>
          <p:cNvPr id="10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Lab 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19456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05 章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33756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自動化 Slurm 排程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05 章：7 個小節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889602"/>
                <a:gridCol w="7678672"/>
                <a:gridCol w="2434701"/>
              </a:tblGrid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§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主題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本堂課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為什麼要派送到 Slurm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講解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請 AI Agent 重構 Slurm 腳本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實作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兩種架構：離線運算 vs 外網直連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講解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Case A：事前下載、離線運算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實作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Case B：計算節點外網直連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講師示範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結果檢驗與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seff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實作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課程進度回顧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100" dirty="0"/>
          </a:p>
        </p:txBody>
      </p:sp>
      <p:sp>
        <p:nvSpPr>
          <p:cNvPr id="1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第 05 章講義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 為什麼要派送到 Slurm？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333806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04 章 §5 的對照組在登入節點跑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run_fastqc_multiqc.sh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，但：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登入節點多人共用，系統會限制個人 CPU 與記憶體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只有送到計算節點，才能申請：</a:t>
            </a:r>
            <a:endParaRPr lang="en-US" sz="2200" dirty="0"/>
          </a:p>
          <a:p>
            <a:pPr lvl="1" marL="4572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多核心 CPU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每個作業 8 核心</a:t>
            </a:r>
            <a:endParaRPr lang="en-US" sz="2200" dirty="0"/>
          </a:p>
          <a:p>
            <a:pPr lvl="1" marL="4572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大記憶體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每個作業 62 GB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生醫平台計畫另有數百核心、最高 6 TB 記憶體的佇列（本課程不使用）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05 章 §1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Slurm Job 提交範例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§2 請 AI Agent 重構 Slurm 腳本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542671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Antigravity 以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$HOME/Nano4-Docs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為工作資料夾，開啟任一個 Agent：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94360" y="2023999"/>
            <a:ext cx="11002975" cy="3530346"/>
          </a:xfrm>
          <a:prstGeom prst="roundRect">
            <a:avLst>
              <a:gd name="adj" fmla="val 1554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97151"/>
            <a:ext cx="10820095" cy="338404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你是一位熟悉國網中心 Nano4 (晶創26) 超級電腦 Slurm 排程器與生物資訊分析的專家。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我原本在登入節點有一個執行 FASTQ 質控分析（FastQC + MultiQC）的互動腳本 `run_fastqc_multiqc.sh`。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現在我希望將這套流程改由 Slurm 佇列派送到 Nano4 計算節點（Compute Node）執行。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請幫我編寫兩個版本的 Slurm 批次作業腳本（符合 Nano4 規格，本課程計畫使用 #SBATCH --account=GOV115088 與 --partition=ngs62g，並依 ngs62g 官方規格加上 #SBATCH --cpus-per-task=8 與 #SBATCH --mem=62G）：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1. 案例 A：事前資料下載 / 離線運算模式 (資料已在 /work 高速目錄就緒，計算節點純內網多核平行處理)。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2. 案例 B：外網直連 / 動態下載模式 (利用 Nano4 計算節點 Direct Internet 存取能力，即時抓取遠端資料並質控)。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5755513"/>
            <a:ext cx="11002975" cy="542671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在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Nano4-Docs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裡，你的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my-nano4-slurm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和課程 Skills 都會一起載入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05 章 §2 Prompt 技巧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prompt 範本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§3 兩種架構：離線運算 vs 外網直連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1796796"/>
          </a:xfrm>
          <a:prstGeom prst="roundRect">
            <a:avLst>
              <a:gd name="adj" fmla="val 305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16504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【架構 A：事前下載 / 離線運算】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登入節點下載 FASTQ → /work/$USER → 計算節點讀取 /work，多核平行分析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【架構 B：計算節點外網直連】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Slurm 派送作業 → 計算節點直接連外網下載 → 分析 → 結果寫入 /work/$USER</a:t>
            </a:r>
            <a:endParaRPr lang="en-US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278124"/>
          <a:ext cx="11002975" cy="914400"/>
        </p:xfrm>
        <a:graphic>
          <a:graphicData uri="http://schemas.openxmlformats.org/drawingml/2006/table">
            <a:tbl>
              <a:tblPr/>
              <a:tblGrid>
                <a:gridCol w="2266945"/>
                <a:gridCol w="4478598"/>
                <a:gridCol w="4257433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比較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Case A 離線運算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Case B 外網直連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計算節點連外網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不需要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直接連線（Direct Internet）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Proxy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B423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❌ 不需要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B423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❌ Nano4 自帶外網，不需要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資料何時準備好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送作業前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作業開始時才下載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適合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大規模長期專案、固定參考基因組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即時抓資料、下載模型權重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穩定度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⭐ 最高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高（依賴外部伺服器）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100" dirty="0"/>
          </a:p>
        </p:txBody>
      </p:sp>
      <p:sp>
        <p:nvSpPr>
          <p:cNvPr id="21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05 章 §3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§4 Case A：事前下載、離線運算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56642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1：在登入節點準備好資料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2047748"/>
            <a:ext cx="11002975" cy="872236"/>
          </a:xfrm>
          <a:prstGeom prst="roundRect">
            <a:avLst>
              <a:gd name="adj" fmla="val 6290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20900"/>
            <a:ext cx="10820095" cy="72593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"$HOME/Nano4-Docs/05-ai-agent-slurm-pipeline/case_a_offline"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01_download_on_login_node.sh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121152"/>
            <a:ext cx="11002975" cy="56642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2：送出離線 Slurm 作業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3888740"/>
            <a:ext cx="11002975" cy="872236"/>
          </a:xfrm>
          <a:prstGeom prst="roundRect">
            <a:avLst>
              <a:gd name="adj" fmla="val 6290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961892"/>
            <a:ext cx="10820095" cy="72593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export BIO_PROJECT_ID=GOV115088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 --account="${BIO_PROJECT_ID}" 02_submit_offline_qc.slurm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4962144"/>
            <a:ext cx="11002975" cy="128778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 Agent 產生的腳本比較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-c 8 --mem=62G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 purge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後載入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biology/JDK/26.0.1 biology/FastQC/0.11.9 biology/MultiQC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fastqc -t ${SLURM_CPUS_PER_TASK}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把 8 核心用滿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100" dirty="0"/>
          </a:p>
        </p:txBody>
      </p:sp>
      <p:sp>
        <p:nvSpPr>
          <p:cNvPr id="12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05 章 §4 Case A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02_submit_offline_qc.slurm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§5 Case B：計算節點外網直連（講師示範）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1103376"/>
          </a:xfrm>
          <a:prstGeom prst="roundRect">
            <a:avLst>
              <a:gd name="adj" fmla="val 4972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9570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export BIO_PROJECT_ID=GOV115088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"$HOME/Nano4-Docs/05-ai-agent-slurm-pipeline/case_b_online"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 --account="${BIO_PROJECT_ID}" run_online_pipeline.slurm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584704"/>
            <a:ext cx="11002975" cy="542671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腳本在計算節點上直接下載資料並質控：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94360" y="3328543"/>
            <a:ext cx="11002975" cy="2160016"/>
          </a:xfrm>
          <a:prstGeom prst="roundRect">
            <a:avLst>
              <a:gd name="adj" fmla="val 2540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401695"/>
            <a:ext cx="10820095" cy="20137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0. 載入官方模組 (計算節點沒有系統 Java)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 purge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 load biology/JDK/26.0.1 biology/FastQC/0.11.9 biology/MultiQC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1. 驗證計算節點對外網路連通性 (無須任何 Proxy)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curl -fsSIL --connect-timeout 10 -o /dev/null "${SAMPLE_URL}"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echo "✅ 外網直連成功！"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5689727"/>
            <a:ext cx="11002975" cy="542671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舊系統 F1 的計算節點沒有外網；Nano4 可以直接連線，不要再用舊的 Proxy 指令。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1100" dirty="0"/>
          </a:p>
        </p:txBody>
      </p:sp>
      <p:sp>
        <p:nvSpPr>
          <p:cNvPr id="10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05 章 §5 Case B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run_online_pipeline.slurm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§6 結果檢驗與 </a:t>
            </a:r>
            <a:r>
              <a:rPr lang="en-US" sz="3200" b="1" dirty="0">
                <a:solidFill>
                  <a:srgbClr val="1B3A6B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seff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608076"/>
          </a:xfrm>
          <a:prstGeom prst="roundRect">
            <a:avLst>
              <a:gd name="adj" fmla="val 902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4617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squeue -u $(whoami)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89404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作業從清單中消失後，查看日誌與報告：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2904490"/>
            <a:ext cx="11002975" cy="2160016"/>
          </a:xfrm>
          <a:prstGeom prst="roundRect">
            <a:avLst>
              <a:gd name="adj" fmla="val 2540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977642"/>
            <a:ext cx="10820095" cy="20137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案例 A 日誌與報告: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cat "$HOME/Nano4-Docs/05-ai-agent-slurm-pipeline/case_a_offline"/qc_offline-*.out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ls /work/${USER}/nano4-case-a-qc/multiqc_out_offline/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案例 B 日誌與報告: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cat "$HOME/Nano4-Docs/05-ai-agent-slurm-pipeline/case_b_online"/qc_online-*.out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ls /work/${USER}/nano4-case-b-qc/multiqc_out_online/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5265674"/>
            <a:ext cx="11002975" cy="608076"/>
          </a:xfrm>
          <a:prstGeom prst="roundRect">
            <a:avLst>
              <a:gd name="adj" fmla="val 902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5338826"/>
            <a:ext cx="10820095" cy="4617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seff &lt;JOB_ID&gt;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100" dirty="0"/>
          </a:p>
        </p:txBody>
      </p:sp>
      <p:sp>
        <p:nvSpPr>
          <p:cNvPr id="11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05 章 §6 seff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19456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☕ 休息 10 分鐘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33756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執行一次 </a:t>
            </a: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squeue --me</a:t>
            </a: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，看看第 07 章的作業跑到哪裡了。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19456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06 章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33756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技能總匯庫（Skills Hub）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06 章：今天的主軸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162179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把你的 skill 和課程 Skills 比較。</a:t>
            </a:r>
            <a:endParaRPr lang="en-US" sz="23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9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第二堂你在第 03 章 Lab 11 做了 </a:t>
            </a:r>
            <a:r>
              <a:rPr lang="en-US" sz="19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my-nano4-slurm</a:t>
            </a: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；本章的 Skills 是講師整理的版本。</a:t>
            </a:r>
            <a:endParaRPr lang="en-US" sz="2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103118"/>
          <a:ext cx="11002975" cy="914400"/>
        </p:xfrm>
        <a:graphic>
          <a:graphicData uri="http://schemas.openxmlformats.org/drawingml/2006/table">
            <a:tbl>
              <a:tblPr/>
              <a:tblGrid>
                <a:gridCol w="3701870"/>
                <a:gridCol w="7301105"/>
              </a:tblGrid>
              <a:tr h="489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課程 Skill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核心功能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89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nano4-slurm-operations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唯讀 preflight：檢查 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wallet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、Slurm 授權與佇列政策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slurm-job-advisor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資源規劃、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ngs62g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規格檢查、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validate_slurm.sh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靜態檢查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89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ai-agent-slurm-pipeline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把互動式腳本改寫成 Slurm 管線、串接相依作業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nfcore-ampliseq-nano4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nf-core/ampliseq 的資料溯源、test、正式執行與結果檢查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1100" dirty="0"/>
          </a:p>
        </p:txBody>
      </p:sp>
      <p:sp>
        <p:nvSpPr>
          <p:cNvPr id="2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第 06 章講義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技能庫清單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安裝課程 Skills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905256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7589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"$HOME/Nano4-Docs/06-skills-hub"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sync_skills.sh</a:t>
            </a:r>
            <a:endParaRPr lang="en-US" sz="1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386584"/>
          <a:ext cx="11002975" cy="914400"/>
        </p:xfrm>
        <a:graphic>
          <a:graphicData uri="http://schemas.openxmlformats.org/drawingml/2006/table">
            <a:tbl>
              <a:tblPr/>
              <a:tblGrid>
                <a:gridCol w="6126310"/>
                <a:gridCol w="4876665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複製到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給誰讀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~/.agents/skills/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Codex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~/.claude/skills/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Claude Code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~/.gemini/config/skills/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Antigravity 內建 Agent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94360" y="4617720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以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$HOME/Nano4-Docs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為工作資料夾時，Antigravity 與 Codex 也會直接載入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.agents/skills/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；安裝後在其他資料夾也能用。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1100" dirty="0"/>
          </a:p>
        </p:txBody>
      </p:sp>
      <p:sp>
        <p:nvSpPr>
          <p:cNvPr id="2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06 章 快速安裝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sync_skills.sh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內建工具速查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2622296"/>
          </a:xfrm>
          <a:prstGeom prst="roundRect">
            <a:avLst>
              <a:gd name="adj" fmla="val 2092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24759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1. 執行 Nano4 唯讀環境與計畫預檢 (nano4-slurm-operations)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"$HOME/Nano4-Docs/06-skills-hub/nano4-slurm-operations/scripts/slurm-preflight.sh" --project GOV115088 --partition ngs62g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2. 查詢 wallet 額度與可用佇列即時資源 (slurm-job-advisor)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"$HOME/Nano4-Docs/06-skills-hub/slurm-job-advisor/scripts/check_slurm_env.sh"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3. 驗證 Slurm 腳本合規性與免扣點模擬預檢 (slurm-job-advisor)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"$HOME/Nano4-Docs/06-skills-hub/slurm-job-advisor/scripts/validate_slurm.sh" \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"$HOME/Nano4-Docs/03-slurm-syntax-and-job-management/templates/standard_cpu_job.slurm"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1100" dirty="0"/>
          </a:p>
        </p:txBody>
      </p:sp>
      <p:sp>
        <p:nvSpPr>
          <p:cNvPr id="6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06 章 工具速查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練習：讓 Skill 抓出不合規的腳本（1/2）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590169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準備一份正確、兩份故意寫錯的腳本：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94360" y="2071497"/>
            <a:ext cx="11002975" cy="1697736"/>
          </a:xfrm>
          <a:prstGeom prst="roundRect">
            <a:avLst>
              <a:gd name="adj" fmla="val 3232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44649"/>
            <a:ext cx="10820095" cy="155143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mkdir -p /work/$USER/skill_lab &amp;&amp; cd /work/$USER/skill_lab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cp "$HOME/Nano4-Docs/03-slurm-syntax-and-job-management/templates/standard_cpu_job.slurm" good.slurm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sed 's/^#SBATCH --mem=62G .*/#SBATCH --mem=16G/' good.slurm &gt; bad_mem.slurm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sed 's/^#SBATCH --partition=ngs62g .*/#SBATCH --partition=ngs32g/' good.slurm &gt; bad_partition.slurm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970401"/>
            <a:ext cx="11002975" cy="590169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 </a:t>
            </a:r>
            <a:r>
              <a:rPr lang="en-US" sz="19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 --test-only</a:t>
            </a: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檢查記憶體寫錯的那份：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4360" y="4761738"/>
            <a:ext cx="11002975" cy="608076"/>
          </a:xfrm>
          <a:prstGeom prst="roundRect">
            <a:avLst>
              <a:gd name="adj" fmla="val 902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834890"/>
            <a:ext cx="10820095" cy="4617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 --test-only bad_mem.slurm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5570982"/>
            <a:ext cx="11002975" cy="749300"/>
          </a:xfrm>
          <a:prstGeom prst="roundRect">
            <a:avLst>
              <a:gd name="adj" fmla="val 9763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644134"/>
            <a:ext cx="10728655" cy="60299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會顯示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Job ... to start at ...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：排程器</a:t>
            </a:r>
            <a:r>
              <a:rPr lang="en-US" sz="2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發現記憶體設定錯誤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1100" dirty="0"/>
          </a:p>
        </p:txBody>
      </p:sp>
      <p:sp>
        <p:nvSpPr>
          <p:cNvPr id="13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06 章 練習：抓出不合規腳本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練習：用 Skill 的驗證工具檢查（2/2）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1002975" cy="1235456"/>
          </a:xfrm>
          <a:prstGeom prst="roundRect">
            <a:avLst>
              <a:gd name="adj" fmla="val 444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53312"/>
            <a:ext cx="10820095" cy="10891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V="$HOME/Nano4-Docs/06-skills-hub/slurm-job-advisor/scripts/validate_slurm.sh"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"$V" good.slurm;          echo "exit=$?"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"$V" bad_mem.slurm;       echo "exit=$?"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"$V" bad_partition.slurm; echo "exit=$?"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716784"/>
          <a:ext cx="11002975" cy="914400"/>
        </p:xfrm>
        <a:graphic>
          <a:graphicData uri="http://schemas.openxmlformats.org/drawingml/2006/table">
            <a:tbl>
              <a:tblPr/>
              <a:tblGrid>
                <a:gridCol w="2750375"/>
                <a:gridCol w="7314771"/>
                <a:gridCol w="937829"/>
              </a:tblGrid>
              <a:tr h="4353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腳本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驗證結果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回傳值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353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good.slurm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🎉 [驗證通過]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53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bad_mem.slurm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❌ [規格錯誤] 'ngs62g' 官方規格為 --mem=62G，目前設定為 16G！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353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bad_partition.slurm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❌ [授權錯誤] 計畫 GOV115088 只能使用 ngs62g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94360" y="4659376"/>
            <a:ext cx="11002975" cy="518922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接著請 Agent 修正：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94360" y="5379466"/>
            <a:ext cx="11002975" cy="773176"/>
          </a:xfrm>
          <a:prstGeom prst="roundRect">
            <a:avLst>
              <a:gd name="adj" fmla="val 7096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452618"/>
            <a:ext cx="10820095" cy="6268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請使用 slurm-job-advisor skill 檢查 bad_mem.slurm 與 bad_partition.slurm，說明錯在哪裡並修正，修正後執行 validate_slurm.sh 確認通過，但不要提交作業。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1100" dirty="0"/>
          </a:p>
        </p:txBody>
      </p:sp>
      <p:sp>
        <p:nvSpPr>
          <p:cNvPr id="31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06 章 練習：抓出不合規腳本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slurm-job-advisor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練習：比較我的 skill 與課程 Skills（1/2）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Antigravity 開啟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$HOME/Nano4-Docs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，選一個 Agent 開新對話：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2095246"/>
            <a:ext cx="11002975" cy="1796796"/>
          </a:xfrm>
          <a:prstGeom prst="roundRect">
            <a:avLst>
              <a:gd name="adj" fmla="val 305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68398"/>
            <a:ext cx="10820095" cy="16504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請比較我的 skill ~/.agents/skills/my-nano4-slurm/SKILL.md 和課程提供的 06-skills-hub/slurm-job-advisor/SKILL.md、06-skills-hub/ai-agent-slurm-pipeline/SKILL.md。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用表格列出：兩邊都有的規則、只有課程 Skills 有的檢查、只有我的 skill 有的經驗。先不要修改任何檔案。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4093210"/>
            <a:ext cx="11002975" cy="1770634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和同學討論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 Skills 有哪些檢查是你在 Lab 10 沒遇到、但真實研究會遇到的？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 skill 記下了哪些課程 Skills 沒寫的經驗？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1100" dirty="0"/>
          </a:p>
        </p:txBody>
      </p:sp>
      <p:sp>
        <p:nvSpPr>
          <p:cNvPr id="9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06 章 練習：比較 skill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練習：把值得學的補進自己的 skill（2/2）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1002975" cy="905256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53312"/>
            <a:ext cx="10820095" cy="7589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請把剛才表格中「只有課程 Skills 有的檢查」裡，對我最有用的兩項補進 my-nano4-slurm，保留我原本的經驗，改完後讓我看修改的地方。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86584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重新安裝，讓三個 Agent 都讀到新版本：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3201670"/>
            <a:ext cx="11002975" cy="558546"/>
          </a:xfrm>
          <a:prstGeom prst="roundRect">
            <a:avLst>
              <a:gd name="adj" fmla="val 982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274822"/>
            <a:ext cx="10820095" cy="41224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"$HOME/Nano4-Docs/03-slurm-syntax-and-job-management/scripts/install_my_skill.sh"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961384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你的 skill 現在同時有自己的經驗，也有課程 Skills 的檢查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</a:t>
            </a:r>
            <a:endParaRPr lang="en-US" sz="1100" dirty="0"/>
          </a:p>
        </p:txBody>
      </p:sp>
      <p:sp>
        <p:nvSpPr>
          <p:cNvPr id="11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06 章 練習：比較 skill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install_my_skill.sh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19456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07 章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33756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nf-core/ampliseq 真實 16S 案例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07 章：課堂安排</a:t>
            </a:r>
            <a:endParaRPr lang="en-US" sz="3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1921694"/>
                <a:gridCol w="5612028"/>
                <a:gridCol w="3469253"/>
              </a:tblGrid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§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主題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本堂課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本章故事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已講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兩套資料：官方 test 與公開研究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講解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工作目錄與先備檢查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開課已做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 / 3.3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下載資料、官方 test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開課已送出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3.4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真實資料（約 1 小時 40 分鐘）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講師示範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讓 AI Agent 重做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講師示範，課後完成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查看與解讀結果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跟著講師做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封裝並使用 Skill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講師示範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繳交內容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課後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</a:t>
            </a:r>
            <a:endParaRPr lang="en-US" sz="1100" dirty="0"/>
          </a:p>
        </p:txBody>
      </p:sp>
      <p:sp>
        <p:nvSpPr>
          <p:cNvPr id="3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第 07 章講義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檢查官方測試結果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905256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7589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"$HOME/Nano4-Docs/07-nfcore-ampliseq-case-study"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tail -5 ampliseq_test-*.out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86584"/>
            <a:ext cx="11002975" cy="2167382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最後出現 </a:t>
            </a:r>
            <a:r>
              <a:rPr lang="en-US" sz="20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Pipeline completed successfully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才代表成功（課前實測約 28 分鐘、125 個子工作、0 個失敗）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還在跑：先講 §1 資料來源，稍後再看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失敗：問題在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環境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，不是資料；檢查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.err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日誌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</a:t>
            </a:r>
            <a:endParaRPr lang="en-US" sz="1100" dirty="0"/>
          </a:p>
        </p:txBody>
      </p:sp>
      <p:sp>
        <p:nvSpPr>
          <p:cNvPr id="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07 章 §3.3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04_inspect_results.sh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 本章使用的兩套資料</a:t>
            </a:r>
            <a:endParaRPr lang="en-US" sz="3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385005"/>
                <a:gridCol w="4286250"/>
              </a:tblGrid>
              <a:tr h="507492"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官方 test profile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公開研究 PRJNA605008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驗證 Nextflow、Slurm、Singularity 能不能運作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學習資料溯源與結果解讀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nf-core/ampliseq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2.18.0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內建小型資料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作者公開在 ENA/SRA 的 raw FASTQ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能不能做生物學結論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B423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❌ 不能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可以，但要注意樣本數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" y="4485132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研究使用的 primer：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94360" y="5300218"/>
            <a:ext cx="11002975" cy="905256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5373370"/>
            <a:ext cx="10820095" cy="7589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515F  GTGYCAGCMGCCGCGGTAA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806R  GGACTACNVGGGTWTCTAAT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</a:t>
            </a:r>
            <a:endParaRPr lang="en-US" sz="1100" dirty="0"/>
          </a:p>
        </p:txBody>
      </p:sp>
      <p:sp>
        <p:nvSpPr>
          <p:cNvPr id="3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07 章 §1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 課堂選用的 6 個樣本</a:t>
            </a:r>
            <a:endParaRPr lang="en-US" sz="3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2151095"/>
                <a:gridCol w="2578870"/>
                <a:gridCol w="1983041"/>
                <a:gridCol w="1766098"/>
                <a:gridCol w="2523870"/>
              </a:tblGrid>
              <a:tr h="45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Pipeline ID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作者 SampleID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Treatment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Litter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Run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C_L1_03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C-L1-03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Control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CONT-L1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SRR11028771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C_L2_03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C-L2-03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Control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CONT-L2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SRR11028740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C_L3_04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C-L3-04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Control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CONT-L3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SRR11028776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M_L1_03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M-L1-03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MSEW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MSEW-L1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SRR11028732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M_L2_03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M-L2-03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MSEW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MSEW-L2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SRR11028720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M_L3_03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M-L3-03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MSEW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MSEW-L3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SRR11028758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" y="4655058"/>
            <a:ext cx="11002975" cy="137388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都是作者 metadata 中的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exp1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PD10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MALE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，分別來自三個 litter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分組完全照作者 metadata，課堂</a:t>
            </a:r>
            <a:r>
              <a:rPr lang="en-US" sz="18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自己發明分組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nf-core/ampliseq 2.18.0 的 sample ID 不能有連字號，所以 Pipeline ID 把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改成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_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</a:t>
            </a:r>
            <a:endParaRPr lang="en-US" sz="1100" dirty="0"/>
          </a:p>
        </p:txBody>
      </p:sp>
      <p:sp>
        <p:nvSpPr>
          <p:cNvPr id="3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07 章 §1.2 PRJNA605008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nf-core/ampliseq 幫我們做了什麼？</a:t>
            </a:r>
            <a:endParaRPr lang="en-US" sz="3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2138019"/>
                <a:gridCol w="2993226"/>
                <a:gridCol w="5871730"/>
              </a:tblGrid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步驟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白話說明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 品質檢查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FastQC / MultiQC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看定序品質好不好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 移除 primer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Cutadapt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切掉每條 read 開頭的引子（515F / 806R）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599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 去雜訊、找 ASV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DADA2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過濾、校正錯誤、合併雙端 reads、去除嵌合體，得到 </a:t>
                      </a: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ASV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 物種分類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DADA2 + SILVA 138.2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判斷每個 ASV 是哪個門、綱、目、科、屬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 多樣性分析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QIIME 2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alpha：樣本內多豐富；beta：樣本間多不同（PCoA）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99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 總結報告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MultiQC / summary report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把各步驟統計彙整成網頁報告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" y="5358384"/>
            <a:ext cx="11002975" cy="56642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每一步都會變成一個（或數個）Slurm 子作業，送到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</a:t>
            </a:r>
            <a:endParaRPr lang="en-US" sz="1100" dirty="0"/>
          </a:p>
        </p:txBody>
      </p:sp>
      <p:sp>
        <p:nvSpPr>
          <p:cNvPr id="39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07 章 §0.5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nf-core/ampliseq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§3.4 真實資料（講師示範）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518922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只有在下載與官方 test 都成功後才提交：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2000250"/>
            <a:ext cx="11002975" cy="2539746"/>
          </a:xfrm>
          <a:prstGeom prst="roundRect">
            <a:avLst>
              <a:gd name="adj" fmla="val 2160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73402"/>
            <a:ext cx="10820095" cy="239344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"$HOME/Nano4-Docs/07-nfcore-ampliseq-case-study"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export NFCORE_ACCOUNT=GOV115088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export NFCORE_PARTITION=ngs62g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 \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--account="${NFCORE_ACCOUNT}" \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--partition="${NFCORE_PARTITION}" \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--export=ALL,NFCORE_ACCOUNT,NFCORE_PARTITION \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scripts/03_run_real_data.slurm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741164"/>
            <a:ext cx="11002975" cy="127101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固定：nf-core/ampliseq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2.18.0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、研究原始 primer、作者原始 metadata、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silva=138.2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課前實測約 </a:t>
            </a:r>
            <a:r>
              <a:rPr lang="en-US" sz="18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小時 40 分鐘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、79 個子工作；其中 QIIME 2 稀釋曲線一步就佔約 1 小時 30 分鐘，這段時間 log 不更新，不是卡住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07 章 §3.4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03_run_real_data.slurm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§4 讓 AI Agent 重做（講師示範，課後完成）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245364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人工版完成後，才用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prompts/ai_reproduce.md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請 AI 重做：</a:t>
            </a:r>
            <a:endParaRPr lang="en-US" sz="2000" dirty="0"/>
          </a:p>
          <a:p>
            <a:pPr marL="228600" indent="-228600">
              <a:lnSpc>
                <a:spcPct val="105000"/>
              </a:lnSpc>
              <a:spcBef>
                <a:spcPts val="800"/>
              </a:spcBef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必須先讀研究資料、提出計畫、完成 preflight</a:t>
            </a:r>
            <a:endParaRPr lang="en-US" sz="20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你確認計畫、佇列、資源與實際命令後，AI 才能提交</a:t>
            </a:r>
            <a:endParaRPr lang="en-US" sz="20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版放在獨立位置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/work/${USER}/nfcore-ampliseq-course-ai/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，不要覆寫人工版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3934968"/>
            <a:ext cx="11002975" cy="1152906"/>
          </a:xfrm>
          <a:prstGeom prst="roundRect">
            <a:avLst>
              <a:gd name="adj" fmla="val 4759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4008120"/>
            <a:ext cx="10820095" cy="100660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samplesheet：人工版 vs AI 版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diff -u /work/${USER}/nfcore-ampliseq-course/metadata/samplesheet.tsv \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    /work/${USER}/nfcore-ampliseq-course-ai/metadata/samplesheet.tsv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5289042"/>
            <a:ext cx="11002975" cy="92710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比較重點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：accessions 與 MD5、sample ID 是否可逆、metadata 有沒有被擅自改組、primer 與 taxonomy 是否固定、AI 是否先跑 test 並取得確認才提交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39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07 章 §4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§5.1 先看講師的示範結果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1467612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下載後在自己電腦用瀏覽器打開，不需要連上 Nano4：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900" u="sng" dirty="0">
                <a:solidFill>
                  <a:srgbClr val="1D4ED8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https://github.com/gemini960114/Nano4-Docs/releases/tag/ampliseq-demo-2026-09-23</a:t>
            </a:r>
            <a:endParaRPr lang="en-US" sz="21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948940"/>
          <a:ext cx="11002975" cy="914400"/>
        </p:xfrm>
        <a:graphic>
          <a:graphicData uri="http://schemas.openxmlformats.org/drawingml/2006/table">
            <a:tbl>
              <a:tblPr/>
              <a:tblGrid>
                <a:gridCol w="4022344"/>
                <a:gridCol w="4115511"/>
                <a:gridCol w="2865120"/>
              </a:tblGrid>
              <a:tr h="489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檔案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796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ampliseq_summary_report.html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各步驟保留的 reads、分類結果、多樣性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先看這份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6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ampliseq_multiqc_report.html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原始 reads 與 Cutadapt 品質報告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第二份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89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overall_summary.tsv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等表格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主要結果表格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可用 Excel 開啟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6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ampliseq_results-real.tar.gz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完整結果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想對照資料夾結構時再下載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</a:t>
            </a:r>
            <a:endParaRPr lang="en-US" sz="1100" dirty="0"/>
          </a:p>
        </p:txBody>
      </p:sp>
      <p:sp>
        <p:nvSpPr>
          <p:cNvPr id="42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07 章 §5.1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1"/>
              </a:rPr>
              <a:t>示範結果 Release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§5.1 看報告時回答這 4 個問題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297484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個樣本分別有多少 reads 通過 Cutadapt 與 DADA2？最後得到幾個 ASV？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門（phylum）與屬（genus）層級最多的是哪些？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 與 MSEW 的 Shannon 多樣性看起來有差嗎？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Beta diversity 的 PERMANOVA p 值是多少？可以說兩組微生物相不同嗎？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4456176"/>
            <a:ext cx="11002975" cy="1109980"/>
          </a:xfrm>
          <a:prstGeom prst="roundRect">
            <a:avLst>
              <a:gd name="adj" fmla="val 6590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29328"/>
            <a:ext cx="10728655" cy="96367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PCoA 圖是視覺化，</a:t>
            </a:r>
            <a:r>
              <a:rPr lang="en-US" sz="2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不等於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統計顯著；只有 6 個樣本，不能宣稱重現了整篇論文。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07 章 §5.1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§5.2 檢查自己跑出來的結果：閱讀順序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608076"/>
          </a:xfrm>
          <a:prstGeom prst="roundRect">
            <a:avLst>
              <a:gd name="adj" fmla="val 902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4617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scripts/04_inspect_results.sh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89404"/>
            <a:ext cx="11002975" cy="4145534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pipeline_info/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：版本、參數、process 狀態與執行時間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multiqc/multiqc_report.html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：原始 reads 品質（未修剪）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cutadapt/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：primer 找到率，避免 primer 填錯卻繼續分析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dada2/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：filtering、denoising、merging、chimera removal 與 ASV 數量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qiime2/abundance_tables/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：feature table 與 taxa abundance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qiime2/diversity/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：alpha / beta diversity 與 PCoA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7.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seff &lt;JOB_ID&gt;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：檢查 driver job；再用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sacct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看子工作資源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</a:t>
            </a:r>
            <a:endParaRPr lang="en-US" sz="1100" dirty="0"/>
          </a:p>
        </p:txBody>
      </p:sp>
      <p:sp>
        <p:nvSpPr>
          <p:cNvPr id="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07 章 §5.2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§6 封裝並使用 Skill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885317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課程已提供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06-skills-hub/nfcore-ampliseq-nano4/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；安裝後，AI 在 nf-core/ampliseq 的任務中會自動載入：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94360" y="2366645"/>
            <a:ext cx="11002975" cy="839216"/>
          </a:xfrm>
          <a:prstGeom prst="roundRect">
            <a:avLst>
              <a:gd name="adj" fmla="val 6538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439797"/>
            <a:ext cx="10820095" cy="6929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"$HOME/Nano4-Docs/06-skills-hub"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sync_skills.sh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407029"/>
            <a:ext cx="11002975" cy="542671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 封裝的是</a:t>
            </a:r>
            <a:r>
              <a:rPr lang="en-US" sz="19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可重用的規則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，不是把這 6 個樣本寫死：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4150868"/>
            <a:ext cx="11002975" cy="2160016"/>
          </a:xfrm>
          <a:prstGeom prst="roundRect">
            <a:avLst>
              <a:gd name="adj" fmla="val 2540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4224020"/>
            <a:ext cx="10820095" cy="20137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資料溯源與 MD5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→ primer 與實際 reads 核對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→ sample/metadata 驗證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→ Nano4 live preflight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→ 官方 test profile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→ 使用者確認後正式提交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→ 結果與資源檢查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</a:t>
            </a:r>
            <a:endParaRPr lang="en-US" sz="1100" dirty="0"/>
          </a:p>
        </p:txBody>
      </p:sp>
      <p:sp>
        <p:nvSpPr>
          <p:cNvPr id="10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07 章 §6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nfcore-ampliseq-nano4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§7 繳交內容（課後）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3777996"/>
          </a:xfrm>
          <a:prstGeom prst="roundRect">
            <a:avLst>
              <a:gd name="adj" fmla="val 1452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36316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1. manual-run-summary.md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人工操作、Job IDs、版本、參數與主要結果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2. ai-run-summary.md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AI 的計畫、人工核准點、Job IDs 與主要結果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3. comparison-report.md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人工版和 AI 版的差異、錯誤與風險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4. skill-review.md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哪些規則適合封裝、哪些生物學判斷仍需人工負責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5. my-nano4-slurm/SKILL.md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第 03 章做的 skill，含第 06 章比較後補強的內容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5259324"/>
            <a:ext cx="11002975" cy="885317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目標不只是「會跑 nf-core」，而是能理解、監督、驗證並重用一套真實的生物資訊 workflow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44</a:t>
            </a:r>
            <a:endParaRPr lang="en-US" sz="1100" dirty="0"/>
          </a:p>
        </p:txBody>
      </p:sp>
      <p:sp>
        <p:nvSpPr>
          <p:cNvPr id="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07 章 §7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19456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補充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33756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課程回顧與延伸資源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45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三堂課回顧</a:t>
            </a:r>
            <a:endParaRPr lang="en-US" sz="32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964166"/>
                <a:gridCol w="2272678"/>
                <a:gridCol w="7766131"/>
              </a:tblGrid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堂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主題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你帶走的東西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第一堂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連線與 AI Agent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Antigravity + ssh-proxy 只認證一次；三個 AI Agent；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AGENTS.md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第二堂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Slurm 與我的 skill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標準、陣列、相依作業；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seff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；自己的 skill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my-nano4-slurm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第三堂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進階與真實案例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容器；離線與外網直連管線；Skill 抓錯；nf-core 16S 真實分析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" y="4485132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貫穿三堂的一件事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：AI Agent 替你寫指令、送作業、解讀結果；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你負責確認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它的計畫與結果是否正確。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46</a:t>
            </a:r>
            <a:endParaRPr lang="en-US" sz="1100" dirty="0"/>
          </a:p>
        </p:txBody>
      </p:sp>
      <p:sp>
        <p:nvSpPr>
          <p:cNvPr id="4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課程首頁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課程規劃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附錄：給 AI 的 Nano4 守則（</a:t>
            </a:r>
            <a:r>
              <a:rPr lang="en-US" sz="3200" b="1" dirty="0">
                <a:solidFill>
                  <a:srgbClr val="1B3A6B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AGENTS.md</a:t>
            </a: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505079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禁止 </a:t>
            </a:r>
            <a:r>
              <a:rPr lang="en-US" sz="20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sudo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：軟體改用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uv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或 Apptainer 容器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大資料放 </a:t>
            </a:r>
            <a:r>
              <a:rPr lang="en-US" sz="20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/work/$USER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：不塞爆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$HOME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，不寫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/tmp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登入節點不跑重度運算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：一律封裝成 Slurm 作業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Slurm 標準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 purge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放第一行、日誌用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%x-%j.out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、不反覆查詢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squeue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本課程設定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GOV115088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只能用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，固定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-c 8 --mem=62G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替使用者操作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：先用白話說明計畫、等你同意再送出，跑完用白話解讀結果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回到自己的研究時，把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AGENTS.md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複製到專案資料夾，改成自己的計畫與佇列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47</a:t>
            </a:r>
            <a:endParaRPr lang="en-US" sz="1100" dirty="0"/>
          </a:p>
        </p:txBody>
      </p:sp>
      <p:sp>
        <p:nvSpPr>
          <p:cNvPr id="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AGENTS.md 守則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02 章 §4 規則位置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資源與排隊：全班同時送作業時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257810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共 13 個節點、1,664 個核心，大約可同時執行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200 個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8 核心作業</a:t>
            </a:r>
            <a:endParaRPr lang="en-US" sz="20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每位使用者最多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120 個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</a:t>
            </a:r>
            <a:endParaRPr lang="en-US" sz="20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07 章官方測試每人約 1 + 5 個作業，20 位學員約 120 個，沒問題</a:t>
            </a:r>
            <a:endParaRPr lang="en-US" sz="20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真實資料（§3.4）不要全班同時跑，改看講師的示範結果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4059428"/>
            <a:ext cx="11002975" cy="1109980"/>
          </a:xfrm>
          <a:prstGeom prst="roundRect">
            <a:avLst>
              <a:gd name="adj" fmla="val 6590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132580"/>
            <a:ext cx="10728655" cy="96367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作業一直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PD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且原因是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(Priority)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或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(Resources)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：在排隊，屬正常現象，不要重複送出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48</a:t>
            </a:r>
            <a:endParaRPr lang="en-US" sz="1100" dirty="0"/>
          </a:p>
        </p:txBody>
      </p:sp>
      <p:sp>
        <p:nvSpPr>
          <p:cNvPr id="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課程規劃 §6 資源與排隊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Slurm 佇列與資源規格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回到自己的研究：從這裡開始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4131564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wallet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確認自己的計畫，再用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scontrol show partition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查能用哪些佇列與規格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AGENTS.md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改成自己的計畫、佇列與固定規格，放進專案資料夾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先用小樣本在 Slurm 上跑通，再放大到全部資料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每次請 AI 做完，檢查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seff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、日誌與輸出檔數量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把糾正 AI 的經驗補進自己的 skill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生醫平台計畫（如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MST109178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）可使用更多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ngs*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佇列與大記憶體節點，規格同樣是固定搭配。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49</a:t>
            </a:r>
            <a:endParaRPr lang="en-US" sz="1100" dirty="0"/>
          </a:p>
        </p:txBody>
      </p:sp>
      <p:sp>
        <p:nvSpPr>
          <p:cNvPr id="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04 章 §3 prompt 技巧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第 06 章 Skills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官方參考文件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4977384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GP1 生醫核心設施使用說明：</a:t>
            </a:r>
            <a:r>
              <a:rPr lang="en-US" sz="1900" u="sng" dirty="0">
                <a:solidFill>
                  <a:srgbClr val="1D4ED8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https://man.twcc.ai/xOYzPATVS_aDlbuqMrwhyg</a:t>
            </a:r>
            <a:endParaRPr lang="en-US" sz="21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Nano4 使用者操作手冊：</a:t>
            </a:r>
            <a:r>
              <a:rPr lang="en-US" sz="1900" u="sng" dirty="0">
                <a:solidFill>
                  <a:srgbClr val="1D4ED8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https://man.twcc.ai/@nano4-manual/documentation</a:t>
            </a:r>
            <a:endParaRPr lang="en-US" sz="21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Nano4 Slurm 佇列與資源規格：</a:t>
            </a:r>
            <a:r>
              <a:rPr lang="en-US" sz="1900" u="sng" dirty="0">
                <a:solidFill>
                  <a:srgbClr val="1D4ED8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https://man.twcc.ai/@nano4-manual/SJM_FuxDWe</a:t>
            </a:r>
            <a:endParaRPr lang="en-US" sz="21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Nano4 Slurm Job 提交與管理範例：</a:t>
            </a:r>
            <a:r>
              <a:rPr lang="en-US" sz="1900" u="sng" dirty="0">
                <a:solidFill>
                  <a:srgbClr val="1D4ED8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https://man.twcc.ai/@nano4-manual/BkRXxZ_JMg</a:t>
            </a:r>
            <a:endParaRPr lang="en-US" sz="21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Nano4 儲存資源與目錄位置：</a:t>
            </a:r>
            <a:r>
              <a:rPr lang="en-US" sz="1900" u="sng" dirty="0">
                <a:solidFill>
                  <a:srgbClr val="1D4ED8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https://man.twcc.ai/@nano4-manual/ry1hWDlPbl</a:t>
            </a:r>
            <a:endParaRPr lang="en-US" sz="21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課程教材原始碼：</a:t>
            </a:r>
            <a:r>
              <a:rPr lang="en-US" sz="1900" u="sng" dirty="0">
                <a:solidFill>
                  <a:srgbClr val="1D4ED8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https://github.com/gemini960114/Nano4-Docs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</a:t>
            </a:r>
            <a:endParaRPr lang="en-US" sz="1100" dirty="0"/>
          </a:p>
        </p:txBody>
      </p:sp>
      <p:sp>
        <p:nvSpPr>
          <p:cNvPr id="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9"/>
              </a:rPr>
              <a:t>講義：官方文件清單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課程結束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2279142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📖 線上講義：</a:t>
            </a:r>
            <a:r>
              <a:rPr lang="en-US" sz="2000" u="sng" dirty="0">
                <a:solidFill>
                  <a:srgbClr val="1D4ED8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https://gemini960114.github.io/Nano4-Docs/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第 07 章示範結果：</a:t>
            </a:r>
            <a:r>
              <a:rPr lang="en-US" sz="2000" u="sng" dirty="0">
                <a:solidFill>
                  <a:srgbClr val="1D4ED8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https://github.com/gemini960114/Nano4-Docs/releases/tag/ampliseq-demo-2026-09-23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離開前在 proxy 視窗按 </a:t>
            </a:r>
            <a:r>
              <a:rPr lang="en-US" sz="20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Ctrl+C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（尤其是共用電腦）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76047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謝謝大家！🙌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Nano4 GP1 生醫 HPC 實戰課程：第一堂</dc:title>
  <dc:subject>PptxGenJS Presentation</dc:subject>
  <dc:creator>NCHC Nano4 課程</dc:creator>
  <cp:lastModifiedBy>NCHC Nano4 課程</cp:lastModifiedBy>
  <cp:revision>1</cp:revision>
  <dcterms:created xsi:type="dcterms:W3CDTF">2026-09-30T15:29:20Z</dcterms:created>
  <dcterms:modified xsi:type="dcterms:W3CDTF">2026-09-30T15:29:20Z</dcterms:modified>
</cp:coreProperties>
</file>