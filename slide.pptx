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notesMasterIdLst>
    <p:notesMasterId r:id="rId7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開場先確認每位學員都有筆電與手機，並已完成課前作業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1、2 項沒完成的學員，今天大部分練習都無法進行，請助教優先處理；第 6 項沒有也沒關係，只用 Antigravity 內建 Agent 就能完成所有練習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課堂上只帶 §3、§4、§7、§8 與練習 1、3；其他小節快速帶過，完整內容在線上講義第 01 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大部分學員用 Windows，請確認他們開的是 PowerShell 而不是舊的「命令提示字元」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#SBATCH 每個參數的細節留到第二堂第 03 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練習 5 的送作業體驗由第 02 章練習 6 A 的結尾示範取代，第二堂第 03 章會完整教 Slurm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§6 的六個練習分散在各小節後面；練習 6 由講師示範，學員可跟著做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請一兩位學員分享 Agent 給出的錯誤建議，這是本段最重要的學習點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先投影 day1_fastqc_multiqc.slurm 的內容，讓學員看到手動版需要寫哪些東西，再送出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講師示範時選一個 Agent，先讀出它的計畫再按同意；時間夠可換另一個 Agent 再做一次。備案：課前先用講師帳號跑一次，把 Agent 的計畫、腳本與結果截圖存好；課堂上超過 5 分鐘還沒跑完，就改用截圖講解，不要讓全班乾等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https://gemini960114.github.io/Nano4-Doc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emini960114.github.io/Nano4-Docs/guide/course_plan#3-&#31532;&#19968;&#22530;&#36899;&#32218;&#33287;-ai-agent&#31532;-0102-&#31456;3-&#23567;&#26178;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emini960114.github.io/Nano4-Docs/guide/00_course_syllabus" TargetMode="External"/><Relationship Id="rId4" Type="http://schemas.openxmlformats.org/officeDocument/2006/relationships/hyperlink" Target="https://man.twcc.ai/xOYzPATVS_aDlbuqMrwhyg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emini960114.github.io/Nano4-Docs/guide/01_nano4_ssh_and_2fa#2-&#21069;&#32622;&#28310;&#20633;iservice-&#30003;&#35531;&#26230;&#21109;26&#35336;&#30059;&#33287;-idexpert-2fa-&#32129;&#23450;" TargetMode="External"/><Relationship Id="rId4" Type="http://schemas.openxmlformats.org/officeDocument/2006/relationships/hyperlink" Target="https://iservice.nchc.org.tw/nchc_service/nchc_service_qa_single.php?qa_code=774" TargetMode="External"/><Relationship Id="rId5" Type="http://schemas.openxmlformats.org/officeDocument/2006/relationships/hyperlink" Target="https://github.com/gemini960114/ssh-proxy/releases/lates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emini960114.github.io/Nano4-Docs/guide/01_nano4_ssh_and_2fa#11-&#26230;&#21109;26-slurm-&#36039;&#28304;&#31649;&#29702;&#33287;&#23436;&#25972;&#20295;&#21015;&#36895;&#26597;-h200-gb200-&#33287;-ngs-&#29983;&#37291;&#36939;&#31639;" TargetMode="External"/><Relationship Id="rId4" Type="http://schemas.openxmlformats.org/officeDocument/2006/relationships/hyperlink" Target="https://man.twcc.ai/@nano4-manual/SJM_FuxDW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emini960114.github.io/Nano4-Docs/guide/01_nano4_ssh_and_2fa" TargetMode="External"/><Relationship Id="rId4" Type="http://schemas.openxmlformats.org/officeDocument/2006/relationships/hyperlink" Target="https://gemini960114.github.io/Nano4-Docs/guide/01_nano4_ssh_and_2fa#12-&#21021;&#23416;&#32773;&#23526;&#25136;&#28436;&#32244;&#24478;&#38646;&#38283;&#22987;&#30340;-6-&#20491;-hpc-&#20837;&#38272;&#32244;&#32722;-beginner-hands-on-lab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emini960114.github.io/Nano4-Docs/guide/00_course_syllabus#&#65039;-&#26230;&#21109;26-nano4-&#30828;&#39636;&#33287;&#32178;&#36335;&#26550;&#27083;&#29305;&#24501;" TargetMode="External"/><Relationship Id="rId4" Type="http://schemas.openxmlformats.org/officeDocument/2006/relationships/hyperlink" Target="https://gemini960114.github.io/Nano4-Docs/guide/01_nano4_ssh_and_2fa#1-&#21474;&#38598;&#21069;&#38272;&#26230;&#21109;26-&#21069;&#31471;&#33287;&#36039;&#26009;&#20659;&#36664;&#26550;&#27083;-ssh22-vs-sftp2222" TargetMode="External"/><Relationship Id="rId5" Type="http://schemas.openxmlformats.org/officeDocument/2006/relationships/hyperlink" Target="https://man.twcc.ai/@nano4-manual/SJuKzVlwbx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emini960114.github.io/Nano4-Docs/guide/01_nano4_ssh_and_2fa#&#23448;&#26041;&#21069;&#31471;&#36899;&#32218;&#36039;&#35338;&#34920;-front-end-endpoints" TargetMode="External"/><Relationship Id="rId4" Type="http://schemas.openxmlformats.org/officeDocument/2006/relationships/hyperlink" Target="https://man.twcc.ai/@nano4-manual/BydP-_lvZg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emini960114.github.io/Nano4-Docs/guide/01_nano4_ssh_and_2fa#12-&#21021;&#23416;&#32773;&#23526;&#25136;&#28436;&#32244;&#24478;&#38646;&#38283;&#22987;&#30340;-6-&#20491;-hpc-&#20837;&#38272;&#32244;&#32722;-beginner-hands-on-labs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emini960114.github.io/Nano4-Docs/guide/01_nano4_ssh_and_2fa#1-&#21474;&#38598;&#21069;&#38272;&#26230;&#21109;26-&#21069;&#31471;&#33287;&#36039;&#26009;&#20659;&#36664;&#26550;&#27083;-ssh22-vs-sftp2222" TargetMode="External"/><Relationship Id="rId4" Type="http://schemas.openxmlformats.org/officeDocument/2006/relationships/hyperlink" Target="https://man.twcc.ai/@nano4-manual/BydP-_lvZg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emini960114.github.io/Nano4-Docs/guide/01_nano4_ssh_and_2fa#2-&#21069;&#32622;&#28310;&#20633;iservice-&#30003;&#35531;&#26230;&#21109;26&#35336;&#30059;&#33287;-idexpert-2fa-&#32129;&#23450;" TargetMode="External"/><Relationship Id="rId4" Type="http://schemas.openxmlformats.org/officeDocument/2006/relationships/hyperlink" Target="https://iservice.nchc.org.tw/nchc_service/index.php" TargetMode="External"/><Relationship Id="rId5" Type="http://schemas.openxmlformats.org/officeDocument/2006/relationships/hyperlink" Target="https://iservice.nchc.org.tw/nchc_service/nchc_service_qa_single.php?qa_code=774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emini960114.github.io/Nano4-Docs/guide/01_nano4_ssh_and_2fa#a-&#20351;&#29992;-macos--linux--windows-terminal-&#21629;&#20196;&#21015;&#30331;&#20837;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emini960114.github.io/Nano4-Docs/guide/01_nano4_ssh_and_2fa#a-&#20351;&#29992;-macos--linux--windows-terminal-&#21629;&#20196;&#21015;&#30331;&#20837;" TargetMode="External"/><Relationship Id="rId4" Type="http://schemas.openxmlformats.org/officeDocument/2006/relationships/hyperlink" Target="https://man.twcc.ai/@nano4-manual/BydP-_lvZg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emini960114.github.io/Nano4-Docs/guide/01_nano4_ssh_and_2fa#b-&#38617;&#22240;&#23376;&#39511;&#35657;&#20132;&#20114;&#27969;&#31243;3-&#31278;&#26041;&#24335;" TargetMode="External"/><Relationship Id="rId4" Type="http://schemas.openxmlformats.org/officeDocument/2006/relationships/hyperlink" Target="https://iservice.nchc.org.tw/nchc_service/nchc_service_qa_single.php?qa_code=774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emini960114.github.io/Nano4-Docs/guide/01_nano4_ssh_and_2fa#c-&#21462;&#24471;&#35506;&#31243;&#25945;&#26448;-repository" TargetMode="External"/><Relationship Id="rId4" Type="http://schemas.openxmlformats.org/officeDocument/2006/relationships/hyperlink" Target="https://github.com/gemini960114/Nano4-Docs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emini960114.github.io/Nano4-Docs/guide/01_nano4_ssh_and_2fa#4-&#26997;&#36895;&#30331;&#20837;&#25216;&#24039;&#35373;&#23450;&#26412;&#22320;&#31471;-ssh-config" TargetMode="External"/><Relationship Id="rId4" Type="http://schemas.openxmlformats.org/officeDocument/2006/relationships/hyperlink" Target="https://github.com/gemini960114/Nano4-Docs/blob/main/01-nano4-ssh-and-2fa/config/ssh_config_example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emini960114.github.io/Nano4-Docs/guide/01_nano4_ssh_and_2fa#a-&#20351;&#29992;&#22294;&#24418;&#21270;&#24037;&#20855;-winscp--filezilla--cyberduck" TargetMode="External"/><Relationship Id="rId4" Type="http://schemas.openxmlformats.org/officeDocument/2006/relationships/hyperlink" Target="https://man.twcc.ai/@nano4-manual/BydP-_lvZg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emini960114.github.io/Nano4-Docs/guide/01_nano4_ssh_and_2fa#b-&#20351;&#29992;&#21629;&#20196;&#21015;&#24555;&#36895;&#20659;&#36664;-sftp--scp--rsync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emini960114.github.io/Nano4-Docs/guide/01_nano4_ssh_and_2fa#-&#32244;&#32722;-2&#27284;&#26696;&#38617;&#21521;&#20659;&#36664;&#23526;&#25136;-&#21033;&#29992;-port-2222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emini960114.github.io/Nano4-Docs/guide/01_nano4_ssh_and_2fa#6-&#24478;&#21488;&#28771;&#26441;&#19977;&#34399;t3&#25644;&#36983;&#36039;&#26009;&#21040;-nano4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emini960114.github.io/Nano4-Docs/guide/01_nano4_ssh_and_2fa#7-&#30331;&#20837;&#24460;&#31532;&#19968;&#27493;&#29872;&#22659;&#20581;&#27298;&#33287;&#19977;&#22823;&#20786;&#23384;&#31354;&#38291;&#26550;&#27083;-home-vs-work-vs-project" TargetMode="External"/><Relationship Id="rId4" Type="http://schemas.openxmlformats.org/officeDocument/2006/relationships/hyperlink" Target="https://github.com/gemini960114/Nano4-Docs/blob/main/01-nano4-ssh-and-2fa/scripts/quick_healthcheck.sh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gemini960114.github.io/Nano4-Docs/guide/01_nano4_ssh_and_2fa#&#26230;&#21109;26-wekafs-&#39640;&#36895;&#20786;&#23384;&#26550;&#27083;&#33287;&#37197;&#38989;&#35215;&#21063;" TargetMode="External"/><Relationship Id="rId4" Type="http://schemas.openxmlformats.org/officeDocument/2006/relationships/hyperlink" Target="https://man.twcc.ai/@nano4-manual/ry1hWDlPb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gemini960114.github.io/Nano4-Docs/guide/01_nano4_ssh_and_2fa#&#23448;&#26041;-gp1-&#20786;&#23384;&#25919;&#31574;&#25226;&#26283;&#23384;&#33287;&#20445;&#23384;&#20998;&#38283;" TargetMode="External"/><Relationship Id="rId4" Type="http://schemas.openxmlformats.org/officeDocument/2006/relationships/hyperlink" Target="https://man.twcc.ai/@nano4-manual/ry1hWDlPbl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emini960114.github.io/Nano4-Docs/guide/01_nano4_ssh_and_2fa#-&#32244;&#32722;-1&#30331;&#20837;&#24460;&#30340;&#29872;&#22659;&#25506;&#32034;&#33287;&#31995;&#32113;&#20581;&#27298;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emini960114.github.io/Nano4-Docs/guide/01_nano4_ssh_and_2fa#a-&#24120;&#29992;-modules-&#26680;&#24515;&#25351;&#20196;&#36895;&#26597;&#34920;" TargetMode="External"/><Relationship Id="rId4" Type="http://schemas.openxmlformats.org/officeDocument/2006/relationships/hyperlink" Target="https://man.twcc.ai/@nano4-manual/BJyI6dgw-g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gemini960114.github.io/Nano4-Docs/guide/01_nano4_ssh_and_2fa#-&#32244;&#32722;-3&#36617;&#20837;&#29983;&#37291;&#27169;&#32068;&#20006;&#39636;&#39511;-module-purge-lmod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emini960114.github.io/Nano4-Docs/guide/01_nano4_ssh_and_2fa#c-&#22283;&#32178;&#20013;&#24515;&#25552;&#20132;&#20316;&#26989;&#31532;&#19968;&#40643;&#37329;&#27861;&#21063;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gemini960114.github.io/Nano4-Docs/guide/01_nano4_ssh_and_2fa#9-hpc-&#23481;&#22120;&#21270;&#36939;&#31639;singularity--apptainer-&#23526;&#21209;" TargetMode="External"/><Relationship Id="rId4" Type="http://schemas.openxmlformats.org/officeDocument/2006/relationships/hyperlink" Target="https://gemini960114.github.io/Nano4-Docs/guide/03_slurm_syntax_and_job_management#-lab-9&#29992;-apptainer-&#23481;&#22120;&#22519;&#34892;-multiqc&#31532;-04-&#31456;&#20043;&#24460;&#36914;&#34892;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emini960114.github.io/Nano4-Docs/guide/01_nano4_ssh_and_2fa#10-&#29694;&#20195;&#26997;&#36895;-python-&#22871;&#20214;&#31649;&#29702;uv-&#23526;&#21209;-&#35299;&#27770;-inode-&#29190;&#37327;&#30171;&#40670;" TargetMode="External"/><Relationship Id="rId4" Type="http://schemas.openxmlformats.org/officeDocument/2006/relationships/hyperlink" Target="https://docs.astral.sh/uv/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gemini960114.github.io/Nano4-Docs/guide/01_nano4_ssh_and_2fa#-&#32244;&#32722;-4&#24555;&#36895;&#24314;&#31435;&#29694;&#20195;-python-&#36939;&#31639;&#29872;&#22659;-uv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gemini960114.github.io/Nano4-Docs/guide/03_slurm_syntax_and_job_management#1-&#28858;&#20160;&#40636;&#38656;&#35201;-slurm&#25490;&#31243;&#22120;&#36939;&#20316;&#26412;&#36074;" TargetMode="External"/><Relationship Id="rId4" Type="http://schemas.openxmlformats.org/officeDocument/2006/relationships/hyperlink" Target="https://man.twcc.ai/@nano4-manual/BkRXxZ_JMg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gemini960114.github.io/Nano4-Docs/guide/01_nano4_ssh_and_2fa#a-&#26230;&#21109;26-&#23436;&#25972;-slurm-&#20295;&#21015;&#28165;&#21934;" TargetMode="External"/><Relationship Id="rId4" Type="http://schemas.openxmlformats.org/officeDocument/2006/relationships/hyperlink" Target="https://man.twcc.ai/@nano4-manual/SJM_FuxDWe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gemini960114.github.io/Nano4-Docs/guide/01_nano4_ssh_and_2fa#-&#32244;&#32722;-5&#29983;&#24179;&#31532;&#19968;&#27425;-slurm-&#25209;&#27425;&#20316;&#26989;&#25552;&#20132;-batch-job" TargetMode="External"/><Relationship Id="rId4" Type="http://schemas.openxmlformats.org/officeDocument/2006/relationships/hyperlink" Target="https://github.com/gemini960114/Nano4-Docs/blob/main/01-nano4-ssh-and-2fa/scripts/sample_first_cpu_job.slurm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gemini960114.github.io/Nano4-Docs/guide/01_nano4_ssh_and_2fa#-&#32244;&#32722;-5&#29983;&#24179;&#31532;&#19968;&#27425;-slurm-&#25209;&#27425;&#20316;&#26989;&#25552;&#20132;-batch-job" TargetMode="External"/><Relationship Id="rId4" Type="http://schemas.openxmlformats.org/officeDocument/2006/relationships/hyperlink" Target="https://gemini960114.github.io/Nano4-Docs/guide/03_slurm_syntax_and_job_management#c-&#26680;&#24515;&#25928;&#33021;&#35386;&#26039;&#31070;&#22120;seff-&#36991;&#20813;&#28010;&#36027;&#35336;&#30059;&#40670;&#25976;" TargetMode="External"/><Relationship Id="rId5" Type="http://schemas.openxmlformats.org/officeDocument/2006/relationships/hyperlink" Target="https://man.twcc.ai/@nano4-manual/BkRXxZ_JMg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gemini960114.github.io/Nano4-Docs/guide/01_nano4_ssh_and_2fa#-&#32244;&#32722;-6&#20114;&#21205;&#24335;&#38500;&#37679;&#24037;&#20316;&#39636;&#39511;-salloc--srun" TargetMode="External"/><Relationship Id="rId4" Type="http://schemas.openxmlformats.org/officeDocument/2006/relationships/hyperlink" Target="https://gemini960114.github.io/Nano4-Docs/guide/03_slurm_syntax_and_job_management#d-&#20114;&#21205;&#24335;&#38500;&#37679;&#33287;&#21363;&#26178;&#38283;&#30332;-salloc--srun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gemini960114.github.io/Nano4-Docs/guide/01_nano4_ssh_and_2fa#12-&#21021;&#23416;&#32773;&#23526;&#25136;&#28436;&#32244;&#24478;&#38646;&#38283;&#22987;&#30340;-6-&#20491;-hpc-&#20837;&#38272;&#32244;&#32722;-beginner-hands-on-labs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gemini960114.github.io/Nano4-Docs/guide/01_nano4_ssh_and_2fa#13-&#36899;&#32218;&#33287;&#29872;&#22659;&#24120;&#35211;&#36393;&#22353;&#33287;&#25490;&#37679;-faq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gemini960114.github.io/Nano4-Docs/guide/02_vscode_and_ai_tools" TargetMode="External"/><Relationship Id="rId4" Type="http://schemas.openxmlformats.org/officeDocument/2006/relationships/hyperlink" Target="https://gemini960114.github.io/Nano4-Docs/guide/02_vscode_and_ai_tools#6-&#21205;&#25163;&#23526;&#25136;&#32244;&#32722;-hands-on-labs-1--6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gemini960114.github.io/Nano4-Docs/guide/02_vscode_and_ai_tools#1-&#28858;&#20160;&#40636;&#35201;&#29992;-antigravity-remote-ssh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hyperlink" Target="https://antigravity.google/" TargetMode="External"/><Relationship Id="rId2" Type="http://schemas.openxmlformats.org/officeDocument/2006/relationships/hyperlink" Target="https://code.visualstudio.com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5" Type="http://schemas.openxmlformats.org/officeDocument/2006/relationships/hyperlink" Target="https://gemini960114.github.io/Nano4-Docs/guide/02_vscode_and_ai_tools#&#27493;&#39519;-a&#22312;&#20491;&#20154;&#38651;&#33126;&#23433;&#35037;-antigravity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gemini960114.github.io/Nano4-Docs/guide/02_vscode_and_ai_tools#&#27493;&#39519;-c&#19968;&#37749;&#36899;&#20837;-nano4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gemini960114.github.io/Nano4-Docs/guide/02_vscode_and_ai_tools#&#27493;&#39519;-d&#38283;&#21855;&#36960;&#31471;&#24037;&#20316;&#21312;" TargetMode="External"/><Relationship Id="rId4" Type="http://schemas.openxmlformats.org/officeDocument/2006/relationships/hyperlink" Target="https://gemini960114.github.io/Nano4-Docs/guide/02_vscode_and_ai_tools#-&#32244;&#32722;-1&#22312;-antigravity-&#38283;&#21855;&#36960;&#31471;&#24037;&#20316;&#21312;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gemini960114.github.io/Nano4-Docs/guide/02_vscode_and_ai_tools#&#27493;&#39519;-e&#24375;&#28872;&#24314;&#35696;&#29992;-ssh-proxy-&#21482;&#20570;&#19968;&#27425;-2fa-&#35469;&#35657;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gemini960114/ssh-prox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Relationship Id="rId4" Type="http://schemas.openxmlformats.org/officeDocument/2006/relationships/hyperlink" Target="https://gemini960114.github.io/Nano4-Docs/guide/02_vscode_and_ai_tools#&#27493;&#39519;-e&#24375;&#28872;&#24314;&#35696;&#29992;-ssh-proxy-&#21482;&#20570;&#19968;&#27425;-2fa-&#35469;&#35657;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gemini960114/ssh-proxy/releases/latest" TargetMode="External"/><Relationship Id="rId2" Type="http://schemas.openxmlformats.org/officeDocument/2006/relationships/hyperlink" Target="https://github.com/gemini960114/ssh-proxy/releases/lates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5" Type="http://schemas.openxmlformats.org/officeDocument/2006/relationships/hyperlink" Target="https://gemini960114.github.io/Nano4-Docs/guide/02_vscode_and_ai_tools#&#27493;&#39519;-e&#24375;&#28872;&#24314;&#35696;&#29992;-ssh-proxy-&#21482;&#20570;&#19968;&#27425;-2fa-&#35469;&#35657;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gemini960114.github.io/Nano4-Docs/guide/02_vscode_and_ai_tools#&#27493;&#39519;-e&#24375;&#28872;&#24314;&#35696;&#29992;-ssh-proxy-&#21482;&#20570;&#19968;&#27425;-2fa-&#35469;&#35657;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gemini960114.github.io/Nano4-Docs/guide/02_vscode_and_ai_tools#&#27493;&#39519;-e&#24375;&#28872;&#24314;&#35696;&#29992;-ssh-proxy-&#21482;&#20570;&#19968;&#27425;-2fa-&#35469;&#35657;" TargetMode="External"/><Relationship Id="rId4" Type="http://schemas.openxmlformats.org/officeDocument/2006/relationships/hyperlink" Target="https://github.com/gemini960114/ssh-proxy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gemini960114.github.io/Nano4-Docs/guide/02_vscode_and_ai_tools#-&#32244;&#32722;-2&#30906;&#35469;-ssh-proxy-&#21482;&#38656;&#35469;&#35657;&#19968;&#27425;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gemini960114.github.io/Nano4-Docs/guide/02_vscode_and_ai_tools#&#27493;&#39519;-e&#24375;&#28872;&#24314;&#35696;&#29992;-ssh-proxy-&#21482;&#20570;&#19968;&#27425;-2fa-&#35469;&#35657;" TargetMode="External"/><Relationship Id="rId4" Type="http://schemas.openxmlformats.org/officeDocument/2006/relationships/hyperlink" Target="https://gemini960114.github.io/Nano4-Docs/guide/02_vscode_and_ai_tools#7-&#22810;&#30331;&#20837;&#31680;&#40670;&#33287;-agent-session-&#28165;&#29702;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gemini960114.github.io/Nano4-Docs/guide/02_vscode_and_ai_tools#3-&#35037;&#19978;&#19977;&#20491;-ai-agent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gemini960114.github.io/Nano4-Docs/guide/02_vscode_and_ai_tools#a-&#23433;&#35037;&#25844;&#20805;&#22871;&#20214;&#35037;&#22312;&#36960;&#31471;-ssh-nano4-proxy" TargetMode="External"/><Relationship Id="rId4" Type="http://schemas.openxmlformats.org/officeDocument/2006/relationships/hyperlink" Target="https://github.com/gemini960114/Nano4-Docs/blob/main/02-vscode-and-ai-tools/scripts/install_vscode_extensions.sh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gemini960114.github.io/Nano4-Docs/guide/02_vscode_and_ai_tools#a-&#23433;&#35037;&#25844;&#20805;&#22871;&#20214;&#35037;&#22312;&#36960;&#31471;-ssh-nano4-proxy" TargetMode="External"/><Relationship Id="rId4" Type="http://schemas.openxmlformats.org/officeDocument/2006/relationships/hyperlink" Target="https://github.com/gemini960114/Nano4-Docs/blob/main/02-vscode-and-ai-tools/scripts/install_vscode_extensions.sh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gemini960114.github.io/Nano4-Docs/guide/02_vscode_and_ai_tools#b-&#30331;&#20837;&#21508;&#20491;-agent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gemini960114.github.io/Nano4-Docs/guide/agents_governance" TargetMode="External"/><Relationship Id="rId4" Type="http://schemas.openxmlformats.org/officeDocument/2006/relationships/hyperlink" Target="https://gemini960114.github.io/Nano4-Docs/guide/02_vscode_and_ai_tools#5-&#36229;&#31639;&#23560;&#23660;-ai-agent-&#27835;&#29702;&#23432;&#21063;agentsmd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s://gemini960114.github.io/Nano4-Docs/guide/02_vscode_and_ai_tools#4-&#19977;&#20491;-agent-&#24590;&#40636;&#35712;&#21040;-nano4-&#30340;&#35215;&#21063;&#33287;-skills" TargetMode="External"/><Relationship Id="rId4" Type="http://schemas.openxmlformats.org/officeDocument/2006/relationships/hyperlink" Target="https://antigravity.google/docs/rules-workflows" TargetMode="External"/><Relationship Id="rId5" Type="http://schemas.openxmlformats.org/officeDocument/2006/relationships/hyperlink" Target="https://antigravity.google/docs/skills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s://gemini960114.github.io/Nano4-Docs/guide/02_vscode_and_ai_tools#5-&#36229;&#31639;&#23560;&#23660;-ai-agent-&#27835;&#29702;&#23432;&#21063;agentsmd" TargetMode="External"/><Relationship Id="rId4" Type="http://schemas.openxmlformats.org/officeDocument/2006/relationships/hyperlink" Target="https://gemini960114.github.io/Nano4-Docs/guide/agents_governance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hyperlink" Target="https://gemini960114.github.io/Nano4-Docs/guide/agents_governance" TargetMode="External"/><Relationship Id="rId4" Type="http://schemas.openxmlformats.org/officeDocument/2006/relationships/hyperlink" Target="https://gemini960114.github.io/Nano4-Docs/guide/02_vscode_and_ai_tools#5-&#36229;&#31639;&#23560;&#23660;-ai-agent-&#27835;&#29702;&#23432;&#21063;agentsmd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hyperlink" Target="https://gemini960114.github.io/Nano4-Docs/guide/02_vscode_and_ai_tools#-&#32244;&#32722;-3&#35037;&#19978;&#19977;&#20491;-ai-agent-&#20006;&#25171;&#25307;&#21628;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hyperlink" Target="https://gemini960114.github.io/Nano4-Docs/guide/02_vscode_and_ai_tools#-&#32244;&#32722;-4&#19977;&#20491;-agent-&#35299;&#37323;&#21516;&#19968;&#25903;-slurm-&#31684;&#26412;&#20006;&#27604;&#36611;" TargetMode="External"/><Relationship Id="rId4" Type="http://schemas.openxmlformats.org/officeDocument/2006/relationships/hyperlink" Target="https://github.com/gemini960114/Nano4-Docs/blob/main/03-slurm-syntax-and-job-management/templates/standard_cpu_job.slurm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hyperlink" Target="https://gemini960114.github.io/Nano4-Docs/guide/02_vscode_and_ai_tools#-&#32244;&#32722;-5&#20154;&#24037;&#39511;&#35657;-ai-&#30340;&#24314;&#35696;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hyperlink" Target="https://gemini960114.github.io/Nano4-Docs/guide/02_vscode_and_ai_tools#-&#32244;&#32722;-6&#25163;&#21205;&#36865;&#20986;-vs-&#33258;&#28982;&#35486;&#35328;&#27966;&#36865;-fastqc--multiqc&#31532;&#19968;&#22530;&#32080;&#23614;&#31034;&#31684;" TargetMode="External"/><Relationship Id="rId4" Type="http://schemas.openxmlformats.org/officeDocument/2006/relationships/hyperlink" Target="https://github.com/gemini960114/Nano4-Docs/blob/main/02-vscode-and-ai-tools/templates/day1_fastqc_multiqc.slurm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hyperlink" Target="https://gemini960114.github.io/Nano4-Docs/guide/02_vscode_and_ai_tools#-&#32244;&#32722;-6&#25163;&#21205;&#36865;&#20986;-vs-&#33258;&#28982;&#35486;&#35328;&#27966;&#36865;-fastqc--multiqc&#31532;&#19968;&#22530;&#32080;&#23614;&#31034;&#31684;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hyperlink" Target="https://gemini960114.github.io/Nano4-Docs/guide/04_ai_assisted_bio_pipeline#6-&#27298;&#35222;&#20114;&#21205;&#24335;&#22577;&#21578;&#36899;&#25509;&#22496;&#36681;&#36865;&#33287;&#26412;&#27231;&#38928;&#35261;" TargetMode="External"/><Relationship Id="rId4" Type="http://schemas.openxmlformats.org/officeDocument/2006/relationships/hyperlink" Target="https://gemini960114.github.io/Nano4-Docs/guide/04_ai_assisted_bio_pipeline#7-&#32244;&#32722;&#35712;&#25026;-multiqc-&#22577;&#21578;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hyperlink" Target="https://gemini960114.github.io/Nano4-Docs/guide/02_vscode_and_ai_tools#-&#32244;&#32722;-6&#25163;&#21205;&#36865;&#20986;-vs-&#33258;&#28982;&#35486;&#35328;&#27966;&#36865;-fastqc--multiqc&#31532;&#19968;&#22530;&#32080;&#23614;&#31034;&#31684;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hyperlink" Target="https://gemini960114.github.io/Nano4-Docs/guide/02_vscode_and_ai_tools#7-&#22810;&#30331;&#20837;&#31680;&#40670;&#33287;-agent-session-&#28165;&#29702;" TargetMode="External"/><Relationship Id="rId4" Type="http://schemas.openxmlformats.org/officeDocument/2006/relationships/hyperlink" Target="https://github.com/gemini960114/Nano4-Docs/blob/main/02-vscode-and-ai-tools/scripts/kill_login.sh" TargetMode="Externa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hyperlink" Target="https://gemini960114.github.io/Nano4-Docs/guide/02_vscode_and_ai_tools#8-&#24120;&#35211;&#36393;&#22353;&#33287;&#36899;&#32218;&#25490;&#37679;-faq" TargetMode="Externa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hyperlink" Target="https://gemini960114.github.io/Nano4-Docs/guide/03_slurm_syntax_and_job_management#9-&#35731;-ai-agent-&#25509;&#25163;&#22810;&#36650;&#23565;&#35441;&#33287;&#25105;&#30340;-skill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hyperlink" Target="https://gemini960114.github.io/Nano4-Docs/guide/01_nano4_ssh_and_2fa#12-&#21021;&#23416;&#32773;&#23526;&#25136;&#28436;&#32244;&#24478;&#38646;&#38283;&#22987;&#30340;-6-&#20491;-hpc-&#20837;&#38272;&#32244;&#32722;-beginner-hands-on-labs" TargetMode="External"/><Relationship Id="rId4" Type="http://schemas.openxmlformats.org/officeDocument/2006/relationships/hyperlink" Target="https://gemini960114.github.io/Nano4-Docs/guide/02_vscode_and_ai_tools#6-&#21205;&#25163;&#23526;&#25136;&#32244;&#32722;-hands-on-labs-1--6" TargetMode="Externa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hyperlink" Target="https://gemini960114.github.io/Nano4-Doc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Relationship Id="rId4" Type="http://schemas.openxmlformats.org/officeDocument/2006/relationships/hyperlink" Target="https://gemini960114.github.io/Nano4-Docs/guide/03_slurm_syntax_and_job_management" TargetMode="External"/><Relationship Id="rId5" Type="http://schemas.openxmlformats.org/officeDocument/2006/relationships/hyperlink" Target="https://gemini960114.github.io/Nano4-Docs/guide/04_ai_assisted_bio_pipeline" TargetMode="External"/><Relationship Id="rId6" Type="http://schemas.openxmlformats.org/officeDocument/2006/relationships/hyperlink" Target="https://gemini960114.github.io/Nano4-Docs/guide/course_pl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37160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Nano4 GP1 生醫 HPC 實戰課程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51460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第一堂：連線與 AI Agent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52044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01 章　登入、2FA 與環境管理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406908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02 章　Antigravity Remote-SSH 與三個 AI Agent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61772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📖 線上講義：</a:t>
            </a:r>
            <a:r>
              <a:rPr lang="en-US" sz="2000" u="sng" dirty="0">
                <a:solidFill>
                  <a:srgbClr val="FFE7A3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https://gemini960114.github.io/Nano4-Docs/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今天的時間表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2692786"/>
                <a:gridCol w="8310189"/>
              </a:tblGrid>
              <a:tr h="4533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0:00–0:15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開場、確認課前準備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0:15–0:25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Nano4 與 GP1 架構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0:25–0:45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SSH 登入、2FA、取得教材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0:45–1:00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儲存空間與模組（練習 1、練習 3）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1:00–1:25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Antigravity 遠端連線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1:25–1:35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☕ 休息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1:35–2:00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ssh-proxy：只認證一次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2:00–2:25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裝上三個 AI Agent、AGENTS.md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2:25–2:40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三個 Agent 比較、人工驗證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2:40–3:00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結尾示範：手動 vs 自然語言派送作業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課程規劃：第一堂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今天結束時，你會做到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310057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Antigravity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連上 Nano4，而且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只需認證一次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分清楚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$HOME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與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該放什麼，會用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載入生醫工具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Nano4 上裝好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 AI Agent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：Antigravity 內建 Agent、Codex、Claude Code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遵守超算規則（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AGENTS.md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），並自己驗證 AI 說得對不對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看懂同一個質控作業的兩種送法：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 </a:t>
            </a:r>
            <a:r>
              <a:rPr lang="en-US" sz="20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與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一句自然語言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課程總綱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GP1 使用說明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課前準備確認 ✋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480779"/>
                <a:gridCol w="8818864"/>
                <a:gridCol w="1703332"/>
              </a:tblGrid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完成了嗎？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604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iService 帳號已加入計畫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GOV115088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300" dirty="0">
                          <a:solidFill>
                            <a:srgbClr val="1B3A6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4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手機已安裝 </a:t>
                      </a: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IDExpert App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並完成 2FA 綁定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300" dirty="0">
                          <a:solidFill>
                            <a:srgbClr val="1B3A6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04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已用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ssh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登入 Nano4 </a:t>
                      </a: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一次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（系統才會建立家目錄）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300" dirty="0">
                          <a:solidFill>
                            <a:srgbClr val="1B3A6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4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已安裝 </a:t>
                      </a: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Google Antigravity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並用 Google 帳號登入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300" dirty="0">
                          <a:solidFill>
                            <a:srgbClr val="1B3A6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04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已下載 </a:t>
                      </a: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ssh-proxy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執行檔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300" dirty="0">
                          <a:solidFill>
                            <a:srgbClr val="1B3A6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4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（選做）ChatGPT 帳號（Codex）或 Claude 帳號（Claude Code）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300" dirty="0">
                          <a:solidFill>
                            <a:srgbClr val="1B3A6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" y="5618074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還沒完成的同學請舉手，助教會協助你。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§2 前置準備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2FA 設定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ssh-proxy 下載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本課程的固定設定（請記住）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1499616"/>
          </a:xfrm>
          <a:prstGeom prst="roundRect">
            <a:avLst>
              <a:gd name="adj" fmla="val 3659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13533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計畫代號：GOV115088（國網生技醫藥高效能運算推廣與應用計畫）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佇列：    ngs62g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規格：    每個作業固定 -c 8 --mem=62G（國網官方規定，不可自行縮減）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環境：    CPU-only，本次不使用 GPU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980944"/>
            <a:ext cx="11002975" cy="1109980"/>
          </a:xfrm>
          <a:prstGeom prst="roundRect">
            <a:avLst>
              <a:gd name="adj" fmla="val 6590"/>
            </a:avLst>
          </a:prstGeom>
          <a:solidFill>
            <a:srgbClr val="EEF3FB"/>
          </a:solidFill>
          <a:ln w="12700">
            <a:solidFill>
              <a:srgbClr val="B9CC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054096"/>
            <a:ext cx="10728655" cy="96367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講義裡出現的 H200 / GB200 GPU、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GOV113021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MST109178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等都是</a:t>
            </a: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參考資料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，照抄會被排程器拒絕。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§11 佇列速查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Slurm 佇列與資源規格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9456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01 章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33756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登入、2FA 與環境管理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01 章：13 個小節與 6 個練習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752516"/>
                <a:gridCol w="8259934"/>
                <a:gridCol w="1990526"/>
              </a:tblGrid>
              <a:tr h="3614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主題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本堂課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614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叢集前門：登入節點 SSH:22 vs 傳輸節點 SFTP:2222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講解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4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前置準備：iService 計畫與 IDExpert 2FA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課前完成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14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SSH 登入、三種 2FA、取得課程教材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4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 SSH Config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14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資料傳輸節點 DTN（Port 2222）→ 🧪 練習 2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選做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4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從台灣杉三號（T3）搬遷資料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參考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14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環境健檢與儲存空間 → 🧪 練習 1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4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Lmod 模組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module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→ 🧪 練習 3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14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Apptainer 容器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第三堂實作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4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uv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Python 環境 → 🧪 練習 4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選做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14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Slurm 佇列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ngs62g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→ 🧪 練習 5、6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時間夠再做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4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六個入門練習回顧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14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常見問題 FAQ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參考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第 01 章講義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01 章 §12 練習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 叢集前門：Nano4 長什麼樣子？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429000" y="128016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2900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你的筆電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flipH="1">
            <a:off x="3337560" y="1737360"/>
            <a:ext cx="1005840" cy="59436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40680" y="1737360"/>
            <a:ext cx="3749040" cy="59436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1143000" y="18470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SSH (Port 22)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418320" y="18470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SFTP / SCP (Port 2222)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17320" y="233172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EEF3FB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2331720"/>
            <a:ext cx="3840480" cy="7772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登入節點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25a-lgn01～05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233172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EEF3FB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69480" y="2331720"/>
            <a:ext cx="3840480" cy="7772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資料傳輸節點 (DTN)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只能傳檔，不能下指令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37560" y="3108960"/>
            <a:ext cx="914" cy="50292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520440" y="32004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 送出作業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51560" y="3611880"/>
            <a:ext cx="4572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3611880"/>
            <a:ext cx="4297680" cy="109728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計算節點</a:t>
            </a:r>
            <a:endParaRPr lang="en-US" sz="18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・GP1 生醫 CPU 25a-cpn*  ← 本課程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・H200 / GB200 GPU（參考）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37560" y="4709160"/>
            <a:ext cx="914" cy="41148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89720" y="3108960"/>
            <a:ext cx="914" cy="201168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51560" y="5120640"/>
            <a:ext cx="1005840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120640"/>
            <a:ext cx="10058400" cy="566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WekaFS 高速共享儲存：/home 與 /work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888736"/>
            <a:ext cx="11002975" cy="447675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GP1 生醫節點是 </a:t>
            </a:r>
            <a:r>
              <a:rPr lang="en-US" sz="15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Nano4 的一部分</a:t>
            </a: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，和 GPU 節點共用登入節點與儲存空間。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23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架構圖介紹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01 章 §1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系統架構及規格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 前端連線資訊：同一個主機名稱，兩個 Port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2548890"/>
                <a:gridCol w="2551328"/>
                <a:gridCol w="800100"/>
                <a:gridCol w="2551328"/>
                <a:gridCol w="2551328"/>
              </a:tblGrid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節點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主機名稱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Port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連線工具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11567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登入節點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nano4.nchc.org.tw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下指令、寫腳本、送 Slurm 作業、輕量除錯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Terminal、PowerShell、Antigravity / VS Code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567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資料傳輸節點（DTN）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nano4.nchc.org.tw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2222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大檔案傳輸，直通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/home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/work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WinSCP、FileZilla、Cyberduck、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scp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rsync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94360" y="4626864"/>
            <a:ext cx="11002975" cy="749300"/>
          </a:xfrm>
          <a:prstGeom prst="roundRect">
            <a:avLst>
              <a:gd name="adj" fmla="val 9763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4700016"/>
            <a:ext cx="10728655" cy="60299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DTN </a:t>
            </a:r>
            <a:r>
              <a:rPr lang="en-US" sz="2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只能傳檔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，不開放 Shell 指令；用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ssh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連 Port 2222 會被拒絕。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§1 連線資訊表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登入與傳輸節點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 三個角色：一個比喻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1653626"/>
                <a:gridCol w="2289636"/>
                <a:gridCol w="7059712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角色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比喻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你在這裡做什麼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登入節點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大樓接待大廳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連線、看檔案、寫腳本、小型測試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計算節點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工廠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真正的運算；不能直接走進去，要透過「工單」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Slurm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廠長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審查工單、分配機器、跑完把結果交給你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94360" y="3511296"/>
            <a:ext cx="11002975" cy="1109980"/>
          </a:xfrm>
          <a:prstGeom prst="roundRect">
            <a:avLst>
              <a:gd name="adj" fmla="val 6590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3584448"/>
            <a:ext cx="10728655" cy="96367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</a:t>
            </a:r>
            <a:r>
              <a:rPr lang="en-US" sz="2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登入節點不能跑重度運算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：超過 5 分鐘、超過 4 核心或超過 8 GB 的工作，一律用 Slurm 送到計算節點。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§12 心智模型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 新手必知三大鐵律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28491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傳檔用 Port 2222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：資料傳輸節點和登入節點同一個主機名稱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nano4.nchc.org.tw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，但傳檔要指定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-P 2222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登入節點是 x86_64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：GB200 是 Arm 架構，不能在登入節點替 GB200 編譯或建環境（本課程不使用 GB200）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只接受台灣境內 IP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：在國外請先連 VPN 回台灣學術網路，或事先向 iService 申請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§1 三大鐵律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登入與傳輸節點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§2 前置準備：iService 計畫與 IDExpert 2FA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245237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註冊 iService 會員並加入計畫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：本課程計畫代號 </a:t>
            </a:r>
            <a:r>
              <a:rPr lang="en-US" sz="20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GOV115088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建立主機帳號與密碼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：在 iService 建立 Linux 主機帳號，密碼要有英文大小寫、數字與特殊符號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綁定雙因子（2FA）App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：手機安裝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IDExpert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，依 iService 雙因子認證設定手冊掃描 QR Code 完成綁定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3933698"/>
            <a:ext cx="11002975" cy="749300"/>
          </a:xfrm>
          <a:prstGeom prst="roundRect">
            <a:avLst>
              <a:gd name="adj" fmla="val 9763"/>
            </a:avLst>
          </a:prstGeom>
          <a:solidFill>
            <a:srgbClr val="EEF3FB"/>
          </a:solidFill>
          <a:ln w="12700">
            <a:solidFill>
              <a:srgbClr val="B9CC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006850"/>
            <a:ext cx="10728655" cy="60299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這三步是課前作業；還沒完成的同學請舉手，助教會協助你。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§2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iService 會員系統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2FA 設定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§3 用什麼軟體登入 Nano4？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495173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每台電腦都已經內建 SSH，</a:t>
            </a:r>
            <a:r>
              <a:rPr lang="en-US" sz="17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不需要另外安裝軟體</a:t>
            </a:r>
            <a:r>
              <a:rPr lang="en-US" sz="17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76501"/>
          <a:ext cx="11002975" cy="914400"/>
        </p:xfrm>
        <a:graphic>
          <a:graphicData uri="http://schemas.openxmlformats.org/drawingml/2006/table">
            <a:tbl>
              <a:tblPr/>
              <a:tblGrid>
                <a:gridCol w="2411445"/>
                <a:gridCol w="4637119"/>
                <a:gridCol w="3954412"/>
              </a:tblGrid>
              <a:tr h="4353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你的電腦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打開哪個軟體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怎麼打開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353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Windows 10 / 11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PowerShell</a:t>
                      </a: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（或 Windows Terminal）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開始選單搜尋「PowerShell」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53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macOS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終端機（Terminal）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Cmd + 空白鍵</a:t>
                      </a: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搜尋「終端機」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353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Linux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Terminal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Ctrl + Alt + T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3919093"/>
            <a:ext cx="11002975" cy="495173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打開後，先確認 SSH 可以用：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94360" y="4615434"/>
            <a:ext cx="11002975" cy="542036"/>
          </a:xfrm>
          <a:prstGeom prst="roundRect">
            <a:avLst>
              <a:gd name="adj" fmla="val 10122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4688586"/>
            <a:ext cx="10820095" cy="39573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ssh -V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358638"/>
            <a:ext cx="11002975" cy="9852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出現 </a:t>
            </a:r>
            <a:r>
              <a:rPr lang="en-US" sz="16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OpenSSH_...</a:t>
            </a:r>
            <a:r>
              <a:rPr lang="en-US" sz="17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版本號就可以用</a:t>
            </a:r>
            <a:endParaRPr lang="en-US" sz="1700" dirty="0"/>
          </a:p>
          <a:p>
            <a:pPr indent="0" marL="0">
              <a:lnSpc>
                <a:spcPct val="105000"/>
              </a:lnSpc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Windows 出現「找不到 ssh」：到「設定 → 系統 → 選用功能」安裝 </a:t>
            </a:r>
            <a:r>
              <a:rPr lang="en-US" sz="17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OpenSSH 用戶端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§3-A 命令列登入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§3-A SSH 登入 Nano4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自己電腦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的終端機（Windows 請開 PowerShell）輸入：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2095246"/>
            <a:ext cx="11002975" cy="608076"/>
          </a:xfrm>
          <a:prstGeom prst="roundRect">
            <a:avLst>
              <a:gd name="adj" fmla="val 90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68398"/>
            <a:ext cx="10820095" cy="4617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ssh your_account@nano4.nchc.org.tw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904490"/>
            <a:ext cx="11002975" cy="1658874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第一次連線會問是否信任主機金鑰 → 輸入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yes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接著會出現 2FA 選單（下一頁）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最後輸入主機密碼：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畫面不會顯示任何字元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，這是正常的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§3-A SSH 登入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登入與傳輸節點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§3-B 三種 2FA 方式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608076"/>
          </a:xfrm>
          <a:prstGeom prst="roundRect">
            <a:avLst>
              <a:gd name="adj" fmla="val 90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4617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Login method (1: Mobile APP OTP, 2: Mobile APP PUSH, 3: Email OTP):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89404"/>
          <a:ext cx="11002975" cy="914400"/>
        </p:xfrm>
        <a:graphic>
          <a:graphicData uri="http://schemas.openxmlformats.org/drawingml/2006/table">
            <a:tbl>
              <a:tblPr/>
              <a:tblGrid>
                <a:gridCol w="807558"/>
                <a:gridCol w="1526789"/>
                <a:gridCol w="6914714"/>
                <a:gridCol w="1753915"/>
              </a:tblGrid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選項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方式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怎麼做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推薦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2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手機推播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IDExpert App 跳出授權請求 → 按「同意」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⭐⭐⭐⭐⭐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1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手機 OTP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打開 IDExpert App → 左下角「OTP」→ 輸入 6 位數字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⭐⭐⭐⭐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3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Email OTP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到註冊信箱收驗證碼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備援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94360" y="4320540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推播沒收到？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手動打開 IDExpert App，請求通常會馬上跳出；還是沒有就按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Ctrl+C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，重新登入並改選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1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  <p:sp>
        <p:nvSpPr>
          <p:cNvPr id="1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§3-B 2FA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2FA 設定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§3-C 取得課程教材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590169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登入成功後，把教材下載到家目錄：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94360" y="2071497"/>
            <a:ext cx="11002975" cy="2556256"/>
          </a:xfrm>
          <a:prstGeom prst="roundRect">
            <a:avLst>
              <a:gd name="adj" fmla="val 2146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44649"/>
            <a:ext cx="10820095" cy="24099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"$HOME"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if [[ -d Nano4-Docs/.git ]]; then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git -C Nano4-Docs pull --ff-only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else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git clone https://github.com/gemini960114/Nano4-Docs.git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fi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"$HOME/Nano4-Docs"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git status --short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828921"/>
            <a:ext cx="11002975" cy="590169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之後重新開啟終端機，都先回到教材目錄：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94360" y="5620258"/>
            <a:ext cx="11002975" cy="591566"/>
          </a:xfrm>
          <a:prstGeom prst="roundRect">
            <a:avLst>
              <a:gd name="adj" fmla="val 9274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5693410"/>
            <a:ext cx="10820095" cy="44526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"$HOME/Nano4-Docs"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100" dirty="0"/>
          </a:p>
        </p:txBody>
      </p:sp>
      <p:sp>
        <p:nvSpPr>
          <p:cNvPr id="10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§3-C 取得教材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GitHub 教材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§4 讓登入更快：設定 SSH Config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42392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</a:t>
            </a: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自己電腦</a:t>
            </a: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編輯 </a:t>
            </a:r>
            <a:r>
              <a:rPr lang="en-US" sz="13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~/.ssh/config</a:t>
            </a: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（Windows：</a:t>
            </a:r>
            <a:r>
              <a:rPr lang="en-US" sz="13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C:\Users\&lt;你&gt;\.ssh\config</a:t>
            </a: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905254"/>
            <a:ext cx="11002975" cy="3035046"/>
          </a:xfrm>
          <a:prstGeom prst="roundRect">
            <a:avLst>
              <a:gd name="adj" fmla="val 1808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78406"/>
            <a:ext cx="10820095" cy="288874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晶創26 (Nano4) 登入節點 (x86_64 架構)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Host nano4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HostName nano4.nchc.org.tw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User your_account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Port 22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ServerAliveInterval 60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ServerAliveCountMax 3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晶創26 (Nano4) 資料傳輸節點 (DTN 專用，Port 2222)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Host nano4-dtn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HostName nano4.nchc.org.tw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User your_account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Port 2222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ServerAliveInterval 60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ServerAliveCountMax 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5141468"/>
            <a:ext cx="11002975" cy="42392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之後只要輸入 </a:t>
            </a:r>
            <a:r>
              <a:rPr lang="en-US" sz="13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ssh nano4</a:t>
            </a: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就能登入。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5766562"/>
            <a:ext cx="11002975" cy="559308"/>
          </a:xfrm>
          <a:prstGeom prst="roundRect">
            <a:avLst>
              <a:gd name="adj" fmla="val 13079"/>
            </a:avLst>
          </a:prstGeom>
          <a:solidFill>
            <a:srgbClr val="EEF3FB"/>
          </a:solidFill>
          <a:ln w="12700">
            <a:solidFill>
              <a:srgbClr val="B9CC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839714"/>
            <a:ext cx="10728655" cy="413004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每一條新連線還是要輸入密碼與 OTP。第 02 章的 </a:t>
            </a:r>
            <a:r>
              <a:rPr lang="en-US" sz="1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ssh-proxy</a:t>
            </a: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會解決這個問題。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100" dirty="0"/>
          </a:p>
        </p:txBody>
      </p:sp>
      <p:sp>
        <p:nvSpPr>
          <p:cNvPr id="10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§4 SSH Config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範本 ssh_config_example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§5 資料傳輸節點：大檔案一律走 Port 2222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749300"/>
          </a:xfrm>
          <a:prstGeom prst="roundRect">
            <a:avLst>
              <a:gd name="adj" fmla="val 9763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53312"/>
            <a:ext cx="10728655" cy="60299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</a:t>
            </a:r>
            <a:r>
              <a:rPr lang="en-US" sz="2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不要用登入節點（Port 22）傳數十 GB 的資料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：登入節點頻寬有限、多人共用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30628"/>
            <a:ext cx="11002975" cy="66141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圖形化工具（WinSCP / FileZilla / Cyberduck）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093212"/>
          <a:ext cx="11002975" cy="914400"/>
        </p:xfrm>
        <a:graphic>
          <a:graphicData uri="http://schemas.openxmlformats.org/drawingml/2006/table">
            <a:tbl>
              <a:tblPr/>
              <a:tblGrid>
                <a:gridCol w="2266778"/>
                <a:gridCol w="8736197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填入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檔案協定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SFTP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主機名稱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nano4.nchc.org.tw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連接埠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2222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（預設 22 會連到登入節點）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帳號 / 密碼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iService 主機帳號與密碼，登入時完成 IDExpert 2FA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100" dirty="0"/>
          </a:p>
        </p:txBody>
      </p:sp>
      <p:sp>
        <p:nvSpPr>
          <p:cNvPr id="20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§5-A 圖形化工具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登入與傳輸節點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§5 命令列傳檔：sftp / scp / rsync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3084576"/>
          </a:xfrm>
          <a:prstGeom prst="roundRect">
            <a:avLst>
              <a:gd name="adj" fmla="val 1779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29382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互動式 SFTP（put 上傳、get 下載、quit 離開）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sftp -P 2222 your_account@nano4.nchc.org.tw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上傳檔案至 /work 高速暫存工作區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scp -P 2222 dataset.tar.gz your_account@nano4.nchc.org.tw:/work/your_account/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下載分析結果到本地端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scp -P 2222 -r your_account@nano4.nchc.org.tw:/work/your_account/output/ ./local_results/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rsync：支援斷點續傳與進度顯示，最推薦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rsync -avzP -e "ssh -p 2222" ./my_dataset/ your_account@nano4.nchc.org.tw:/work/your_account/my_dataset/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4565904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scp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sftp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用大寫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-P 2222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rsync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要寫成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-e "ssh -p 2222"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§5-B 命令列傳檔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練習 2：用 Port 2222 雙向傳檔（選做）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1002975" cy="749300"/>
          </a:xfrm>
          <a:prstGeom prst="roundRect">
            <a:avLst>
              <a:gd name="adj" fmla="val 9763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53312"/>
            <a:ext cx="10728655" cy="60299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步驟 1、2、4 在</a:t>
            </a:r>
            <a:r>
              <a:rPr lang="en-US" sz="2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自己電腦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的終端機執行，步驟 3 在 Nano4 上執行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230628"/>
            <a:ext cx="11002975" cy="3084576"/>
          </a:xfrm>
          <a:prstGeom prst="roundRect">
            <a:avLst>
              <a:gd name="adj" fmla="val 1779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303780"/>
            <a:ext cx="10820095" cy="29382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1.（自己電腦）建立測試檔案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echo "Hello Nano4! This is my first file." &gt; hello_nano4.txt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2.（自己電腦）上傳到 Nano4 的 /work，記得加 -P 2222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scp -P 2222 hello_nano4.txt your_account@nano4.nchc.org.tw:/work/your_account/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3.（Nano4）確認檔案已上傳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cat /work/$USER/hello_nano4.txt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4.（自己電腦）把檔案下載回來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scp -P 2222 your_account@nano4.nchc.org.tw:/work/your_account/hello_nano4.txt ./downloaded_test.txt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516372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用 Port 22 傳檔會出現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Connection refused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100" dirty="0"/>
          </a:p>
        </p:txBody>
      </p:sp>
      <p:sp>
        <p:nvSpPr>
          <p:cNvPr id="10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練習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§6 從台灣杉三號（T3）搬遷資料（參考）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1992884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只有原本使用台灣杉三號（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t3-c4.nchc.org.tw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）的學員需要：</a:t>
            </a:r>
            <a:endParaRPr lang="en-US" sz="1900" dirty="0"/>
          </a:p>
          <a:p>
            <a:pPr marL="228600" indent="-228600">
              <a:lnSpc>
                <a:spcPct val="105000"/>
              </a:lnSpc>
              <a:spcBef>
                <a:spcPts val="800"/>
              </a:spcBef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</a:t>
            </a:r>
            <a:r>
              <a:rPr lang="en-US" sz="19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Nano4 登入節點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執行，由 Nano4 主動連回 T3</a:t>
            </a:r>
            <a:endParaRPr lang="en-US" sz="19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先搬到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/work/$USER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的暫存目錄，</a:t>
            </a:r>
            <a:r>
              <a:rPr lang="en-US" sz="19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不要直接覆寫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Nano4 的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$HOME</a:t>
            </a:r>
            <a:endParaRPr lang="en-US" sz="19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-n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預覽（dry-run），確認清單正確再正式同步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94360" y="3474212"/>
            <a:ext cx="11002975" cy="2044446"/>
          </a:xfrm>
          <a:prstGeom prst="roundRect">
            <a:avLst>
              <a:gd name="adj" fmla="val 2684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547364"/>
            <a:ext cx="10820095" cy="189814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hfsquota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mkdir -p /work/$USER/t3-home-backup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只預覽，不會寫入資料；替換成實際 T3 帳號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rsync -avHSn --info=progress2 \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&lt;T3帳號&gt;@t3-c4.nchc.org.tw:/home/&lt;T3帳號&gt;/ \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/work/$USER/t3-home-backup/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5719826"/>
            <a:ext cx="11002975" cy="542671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資料量大時在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tmux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內執行；完整步驟 A–D 見講義第 01 章 §6。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§6 T3 搬遷步驟 A–D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§7 登入後第一步：環境健檢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51892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執行本章隨附的一鍵健檢腳本：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2000250"/>
            <a:ext cx="11002975" cy="806196"/>
          </a:xfrm>
          <a:prstGeom prst="roundRect">
            <a:avLst>
              <a:gd name="adj" fmla="val 6805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73402"/>
            <a:ext cx="10820095" cy="6598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"$HOME/Nano4-Docs/01-nano4-ssh-and-2fa/scripts"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./quick_healthcheck.sh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07614"/>
            <a:ext cx="11002975" cy="3175254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報告會依序列出：</a:t>
            </a:r>
            <a:endParaRPr lang="en-US" sz="1800" dirty="0"/>
          </a:p>
          <a:p>
            <a:pPr indent="0" marL="0">
              <a:lnSpc>
                <a:spcPct val="105000"/>
              </a:lnSpc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節點與系統資訊：主機名稱、作業系統、CPU 與記憶體</a:t>
            </a:r>
            <a:endParaRPr lang="en-US" sz="18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計畫與 SU 錢包餘額（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wallet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18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/home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與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的容量與剩餘空間</a:t>
            </a:r>
            <a:endParaRPr lang="en-US" sz="18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Lmod、Apptainer、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uv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是否可用</a:t>
            </a:r>
            <a:endParaRPr lang="en-US" sz="18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Slurm 佇列概況（本課程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18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外網連通性（NCBI、GitHub）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§7 環境健檢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健檢腳本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§7 三大儲存空間：什麼東西放哪裡？</a:t>
            </a:r>
            <a:endParaRPr lang="en-US" sz="3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2650558"/>
                <a:gridCol w="3615388"/>
                <a:gridCol w="1393884"/>
                <a:gridCol w="3343145"/>
              </a:tblGrid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路徑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放什麼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本課程配額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注意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7599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$HOME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/home/帳號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）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程式碼、Git repo、設定檔、skill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100 GB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不要放大量小檔案或快取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99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/work/帳號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FASTQ、分析結果、容器與暫存檔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100 GB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沒有備份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，重要結果要自己備份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/project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跨成員共享的計畫資料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需另外申請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由計畫主持人向國網簽約申請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/tmp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B423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❌ 不要放任何資料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隨時會被清除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94360" y="4415536"/>
            <a:ext cx="11002975" cy="701802"/>
          </a:xfrm>
          <a:prstGeom prst="roundRect">
            <a:avLst>
              <a:gd name="adj" fmla="val 10423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4488688"/>
            <a:ext cx="10728655" cy="55549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是 </a:t>
            </a:r>
            <a:r>
              <a:rPr lang="en-US" sz="17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</a:t>
            </a:r>
            <a:r>
              <a:rPr lang="en-US" sz="18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，不是舊系統的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/work1</a:t>
            </a:r>
            <a:r>
              <a:rPr lang="en-US" sz="18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94360" y="5318506"/>
            <a:ext cx="11002975" cy="701802"/>
          </a:xfrm>
          <a:prstGeom prst="roundRect">
            <a:avLst>
              <a:gd name="adj" fmla="val 10423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391658"/>
            <a:ext cx="10728655" cy="55549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沒有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sudo</a:t>
            </a:r>
            <a:r>
              <a:rPr lang="en-US" sz="18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：軟體請用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</a:t>
            </a:r>
            <a:r>
              <a:rPr lang="en-US" sz="18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uv</a:t>
            </a:r>
            <a:r>
              <a:rPr lang="en-US" sz="18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或 Apptainer 容器解決。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100" dirty="0"/>
          </a:p>
        </p:txBody>
      </p:sp>
      <p:sp>
        <p:nvSpPr>
          <p:cNvPr id="2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§7 儲存架構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儲存資源與目錄位置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§7 查詢自己的空間：</a:t>
            </a:r>
            <a:r>
              <a:rPr lang="en-US" sz="3200" b="1" dirty="0">
                <a:solidFill>
                  <a:srgbClr val="1B3A6B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hfsquota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608076"/>
          </a:xfrm>
          <a:prstGeom prst="roundRect">
            <a:avLst>
              <a:gd name="adj" fmla="val 90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4617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hfsquota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089404"/>
            <a:ext cx="11002975" cy="1202436"/>
          </a:xfrm>
          <a:prstGeom prst="roundRect">
            <a:avLst>
              <a:gd name="adj" fmla="val 456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62556"/>
            <a:ext cx="10820095" cy="105613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PATH                 USED      HARD LIMIT          USAGE %  STATUS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/home/&lt;帳號&gt;         499,712 B 107,374,182,400 B       0  ACTIVE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/work/&lt;帳號&gt;       2,240,512 B 107,374,182,400 B       0  ACTIVE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493008"/>
            <a:ext cx="11002975" cy="749300"/>
          </a:xfrm>
          <a:prstGeom prst="roundRect">
            <a:avLst>
              <a:gd name="adj" fmla="val 9763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566160"/>
            <a:ext cx="10728655" cy="60299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不要用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df -h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：它顯示的是整個叢集好幾 PB 的容量，不是你的配額。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4443476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分析完成後，要長期保存的資料移到 GP1-4 大容量儲存服務，不要一直放在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100" dirty="0"/>
          </a:p>
        </p:txBody>
      </p:sp>
      <p:sp>
        <p:nvSpPr>
          <p:cNvPr id="11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§7 GP1 儲存政策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儲存資源與目錄位置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練習 1：環境健檢（5 分鐘）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1002975" cy="1235456"/>
          </a:xfrm>
          <a:prstGeom prst="roundRect">
            <a:avLst>
              <a:gd name="adj" fmla="val 444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53312"/>
            <a:ext cx="10820095" cy="10891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whoami        # 我是誰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hostname      # 我在哪台登入節點（25a-lgn01～05）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pwd           # 我在哪個資料夾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hfsquota      # 我的 /home 與 /work 配額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16784"/>
            <a:ext cx="11002975" cy="51892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執行一鍵健檢腳本：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436874"/>
            <a:ext cx="11002975" cy="773176"/>
          </a:xfrm>
          <a:prstGeom prst="roundRect">
            <a:avLst>
              <a:gd name="adj" fmla="val 7096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510026"/>
            <a:ext cx="10820095" cy="6268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"$HOME/Nano4-Docs/01-nano4-ssh-and-2fa/scripts"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./quick_healthcheck.sh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4411218"/>
            <a:ext cx="11002975" cy="189280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請確認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Bef>
                <a:spcPts val="700"/>
              </a:spcBef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wallet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那一段有列出 </a:t>
            </a:r>
            <a:r>
              <a:rPr lang="en-US" sz="17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GOV115088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佇列概況顯示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 (本課程 GOV115088，固定 -c 8 --mem=62G，96h)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外網測試出現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✅ 外網連線正常 (NCBI 連通)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1100" dirty="0"/>
          </a:p>
        </p:txBody>
      </p:sp>
      <p:sp>
        <p:nvSpPr>
          <p:cNvPr id="11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練習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§8 軟體從哪裡來？</a:t>
            </a:r>
            <a:r>
              <a:rPr lang="en-US" sz="3200" b="1" dirty="0">
                <a:solidFill>
                  <a:srgbClr val="1B3A6B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885317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超算上不能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sudo apt install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，官方已經把常用軟體裝好，用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（簡寫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ml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）載入：</a:t>
            </a:r>
            <a:endParaRPr lang="en-US" sz="1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366645"/>
          <a:ext cx="11002975" cy="914400"/>
        </p:xfrm>
        <a:graphic>
          <a:graphicData uri="http://schemas.openxmlformats.org/drawingml/2006/table">
            <a:tbl>
              <a:tblPr/>
              <a:tblGrid>
                <a:gridCol w="4518588"/>
                <a:gridCol w="3899125"/>
                <a:gridCol w="2585262"/>
              </a:tblGrid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指令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簡寫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module avail biology/FastQC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ml avail biology/FastQC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查詢有哪些版本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module spider &lt;名稱&gt;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ml spider &lt;名稱&gt;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全域搜尋工具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module load 名稱/版本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ml 名稱/版本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載入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module list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ml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列出目前載入的模組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module purge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ml purge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全部清空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5396357"/>
            <a:ext cx="11002975" cy="885317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生醫工具都在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biology/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底下，例如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biology/FastQC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biology/Nextflow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biology/SAMtools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1100" dirty="0"/>
          </a:p>
        </p:txBody>
      </p:sp>
      <p:sp>
        <p:nvSpPr>
          <p:cNvPr id="2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§8-A 指令速查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Lmod 模組說明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練習 3：載入生醫模組（5 分鐘）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1002975" cy="5065776"/>
          </a:xfrm>
          <a:prstGeom prst="roundRect">
            <a:avLst>
              <a:gd name="adj" fmla="val 108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53312"/>
            <a:ext cx="10820095" cy="49194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1. 清空環境，確認工具還不存在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 purge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command -v fastqc || echo "fastqc: 尚未載入"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2. 載入本課程會用到的三個模組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 load biology/JDK/26.0.1 biology/FastQC/0.11.9 biology/MultiQC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3. 確認版本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fastqc --version      # FastQC v0.11.9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multiqc --version     # multiqc, version 1.35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java -version         # java version "26.0.1"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 list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4. 再次清空，工具又不見了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 purge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command -v fastqc || echo "fastqc: 已隨 module purge 移除"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練習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§8 為什麼 FastQC 一定要搭配 JDK？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270383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計算節點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沒有系統 Java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只載入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biology/FastQC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、沒載入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biology/JDK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時：</a:t>
            </a:r>
            <a:endParaRPr lang="en-US" sz="2200" dirty="0"/>
          </a:p>
          <a:p>
            <a:pPr lvl="1" marL="4572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FastQC 找不到 Java，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不會產生任何報告</a:t>
            </a:r>
            <a:endParaRPr lang="en-US" sz="2200" dirty="0"/>
          </a:p>
          <a:p>
            <a:pPr lvl="1" marL="4572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但指令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仍可能顯示成功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← 最容易被騙的地方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也常漏掉這一點，今天最後的示範請注意看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4185158"/>
            <a:ext cx="11002975" cy="1109980"/>
          </a:xfrm>
          <a:prstGeom prst="roundRect">
            <a:avLst>
              <a:gd name="adj" fmla="val 6590"/>
            </a:avLst>
          </a:prstGeom>
          <a:solidFill>
            <a:srgbClr val="EEF3FB"/>
          </a:solidFill>
          <a:ln w="12700">
            <a:solidFill>
              <a:srgbClr val="B9CC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58310"/>
            <a:ext cx="10728655" cy="96367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這也是為什麼 Slurm 腳本第一行要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 purge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：先清空，再明確載入需要的東西。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§8-C 第一黃金法則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§9 Apptainer 容器（第三堂實作）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2883281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sudo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又需要複雜的軟體環境時，用 </a:t>
            </a:r>
            <a:r>
              <a:rPr lang="en-US" sz="19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Apptainer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（前身為 Singularity）執行 Docker 映像檔：</a:t>
            </a:r>
            <a:endParaRPr lang="en-US" sz="1900" dirty="0"/>
          </a:p>
          <a:p>
            <a:pPr marL="228600" indent="-228600">
              <a:lnSpc>
                <a:spcPct val="105000"/>
              </a:lnSpc>
              <a:spcBef>
                <a:spcPts val="800"/>
              </a:spcBef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在容器內仍是一般使用者，不會破壞主機安全</a:t>
            </a:r>
            <a:endParaRPr lang="en-US" sz="19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整個環境打包成一個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.sif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檔，容易保存與搬移</a:t>
            </a:r>
            <a:endParaRPr lang="en-US" sz="19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Nano4 已預載 Apptainer 1.4.3（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apptainer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與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singularity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都可以用）</a:t>
            </a:r>
            <a:endParaRPr lang="en-US" sz="19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快取目錄一定要放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，避免塞爆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$HOME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94360" y="4364609"/>
            <a:ext cx="11002975" cy="839216"/>
          </a:xfrm>
          <a:prstGeom prst="roundRect">
            <a:avLst>
              <a:gd name="adj" fmla="val 6538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4437761"/>
            <a:ext cx="10820095" cy="6929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export APPTAINER_CACHEDIR="/work/${USER}/.apptainer_cache"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export SINGULARITY_CACHEDIR="/work/${USER}/.singularity_cache"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5404993"/>
            <a:ext cx="11002975" cy="542671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映像檔要在 Slurm 作業中拉取，不要在登入節點拉大型映像；第三堂 Lab 9 會實作。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§9 Apptainer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03 章 Lab 9（第三堂）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§10 </a:t>
            </a:r>
            <a:r>
              <a:rPr lang="en-US" sz="3200" b="1" dirty="0">
                <a:solidFill>
                  <a:srgbClr val="1B3A6B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uv</a:t>
            </a: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：取代 conda 的 Python 套件管理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229311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 conda 環境常有 5～10 萬個小檔案，很容易用光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Inode 配額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uv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速度比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pip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/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conda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快 10～100 倍，並用硬連結避免重複檔案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單一執行檔，不需要管理者權限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找不到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uv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時，用使用者權限安裝到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~/.local/bin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（不需要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sudo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3774440"/>
            <a:ext cx="11002975" cy="2093976"/>
          </a:xfrm>
          <a:prstGeom prst="roundRect">
            <a:avLst>
              <a:gd name="adj" fmla="val 2620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847592"/>
            <a:ext cx="10820095" cy="19476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export PATH="${HOME}/.local/bin:${PATH}"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if ! command -v uv &gt;/dev/null 2&gt;&amp;1; then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curl -LsSf https://astral.sh/uv/install.sh | sh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export PATH="${HOME}/.local/bin:${PATH}"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fi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uv --version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§10 uv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uv 官方文件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練習 4：用 </a:t>
            </a:r>
            <a:r>
              <a:rPr lang="en-US" sz="3200" b="1" dirty="0">
                <a:solidFill>
                  <a:srgbClr val="B45309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uv</a:t>
            </a: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建立 Python 環境（選做）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1002975" cy="3546856"/>
          </a:xfrm>
          <a:prstGeom prst="roundRect">
            <a:avLst>
              <a:gd name="adj" fmla="val 1547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53312"/>
            <a:ext cx="10820095" cy="34005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1. 快取放 /work，避免塞爆 $HOME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export UV_CACHE_DIR="/work/${USER}/.uv_cache"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2. 在 /work 建立虛擬環境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uv venv /work/${USER}/lab_env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3. 安裝套件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uv pip install --python /work/${USER}/lab_env/bin/python rich requests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4. 啟動環境並測試，最後離開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source /work/${USER}/lab_env/bin/activate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python -c "from rich import print; print('[bold green]🎉 Python 虛擬環境啟動成功！[/bold green]')"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deactivate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5028184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虛擬環境一律建在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/work/$USER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，不要放在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$HOME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練習 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§11 為什麼需要 Slurm？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1796796"/>
          </a:xfrm>
          <a:prstGeom prst="roundRect">
            <a:avLst>
              <a:gd name="adj" fmla="val 305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16504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[個人電腦思維]  雙擊程式 → 馬上在本機執行 → 關掉視窗就中斷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[超級電腦思維]  在登入節點寫腳本 → sbatch 交給 Slurm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           → 計算節點在背景執行 → 你可以關機回家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           → 跑完結果寫進日誌檔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278124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今天只看 Slurm 怎麼用，第二堂再學腳本每一行的意思。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§1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Slurm Job 提交範例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§11 </a:t>
            </a:r>
            <a:r>
              <a:rPr lang="en-US" sz="3200" b="1" dirty="0">
                <a:solidFill>
                  <a:srgbClr val="1B3A6B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規格：官方固定搭配</a:t>
            </a:r>
            <a:endParaRPr lang="en-US" sz="3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3439516"/>
                <a:gridCol w="1140714"/>
                <a:gridCol w="1794510"/>
                <a:gridCol w="1188720"/>
                <a:gridCol w="3439516"/>
              </a:tblGrid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佇列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 </a:t>
                      </a: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-c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記憶體 </a:t>
                      </a: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--mem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最長時間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本課程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ngs62g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62 GB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天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GOV115088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唯一可用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ngstest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ngs8g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～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ngs32g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ngs125g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…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B423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❌ 只開放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MST109178</a:t>
                      </a:r>
                      <a:r>
                        <a:rPr lang="en-US" sz="1800" dirty="0">
                          <a:solidFill>
                            <a:srgbClr val="B4231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等計畫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" y="3653028"/>
            <a:ext cx="11002975" cy="218135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國網規定每個佇列都要用固定的「核心 × 記憶體」申請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送到其他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ngs*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佇列會被拒絕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計費以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核心小時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H200 / GB200 GPU 佇列只供參考，本課程不使用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</a:t>
            </a:r>
            <a:endParaRPr lang="en-US" sz="1100" dirty="0"/>
          </a:p>
        </p:txBody>
      </p:sp>
      <p:sp>
        <p:nvSpPr>
          <p:cNvPr id="3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§11 佇列清單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Slurm 佇列與資源規格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練習 5：第一次提交 Slurm 批次作業（1/2）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471424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 CPU 範本到自己的工作區，並檢視內容：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1952752"/>
            <a:ext cx="11002975" cy="1169416"/>
          </a:xfrm>
          <a:prstGeom prst="roundRect">
            <a:avLst>
              <a:gd name="adj" fmla="val 4692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25904"/>
            <a:ext cx="10820095" cy="10231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cp "$HOME/Nano4-Docs/01-nano4-ssh-and-2fa/scripts/sample_first_cpu_job.slurm" /work/$USER/my_first_cpu_job.slurm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/work/$USER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cat my_first_cpu_job.slurm</a:t>
            </a:r>
            <a:endParaRPr lang="en-US" sz="13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323336"/>
          <a:ext cx="11002975" cy="914400"/>
        </p:xfrm>
        <a:graphic>
          <a:graphicData uri="http://schemas.openxmlformats.org/drawingml/2006/table">
            <a:tbl>
              <a:tblPr/>
              <a:tblGrid>
                <a:gridCol w="4395531"/>
                <a:gridCol w="6607444"/>
              </a:tblGrid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關鍵參數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意思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#SBATCH --account=GOV115088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本課程計畫代號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#SBATCH --partition=ngs62g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生醫專屬 CPU 佇列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#SBATCH --cpus-per-task=8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顆 CPU 核心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3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#SBATCH --mem=62G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62 GB 記憶體（</a:t>
                      </a:r>
                      <a:r>
                        <a:rPr lang="en-US" sz="12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ngs62g</a:t>
                      </a: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必須搭配 </a:t>
                      </a:r>
                      <a:r>
                        <a:rPr lang="en-US" sz="12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-c 8 --mem=62G</a:t>
                      </a: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5611114"/>
            <a:ext cx="11002975" cy="630555"/>
          </a:xfrm>
          <a:prstGeom prst="roundRect">
            <a:avLst>
              <a:gd name="adj" fmla="val 11601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684266"/>
            <a:ext cx="10728655" cy="484251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純 CPU 佇列</a:t>
            </a:r>
            <a:r>
              <a:rPr lang="en-US" sz="15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</a:t>
            </a:r>
            <a:r>
              <a:rPr lang="en-US" sz="15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 </a:t>
            </a:r>
            <a:r>
              <a:rPr lang="en-US" sz="14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--gres=gpu:1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</a:t>
            </a:r>
            <a:endParaRPr lang="en-US" sz="1100" dirty="0"/>
          </a:p>
        </p:txBody>
      </p:sp>
      <p:sp>
        <p:nvSpPr>
          <p:cNvPr id="36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練習 5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範本 sample_first_cpu_job.slurm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練習 5：送出、追蹤與檢查效能（2/2）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1002975" cy="1499616"/>
          </a:xfrm>
          <a:prstGeom prst="roundRect">
            <a:avLst>
              <a:gd name="adj" fmla="val 3659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53312"/>
            <a:ext cx="10820095" cy="13533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 my_first_cpu_job.slurm      # → Submitted batch job 422203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squeue --me                        # PD = 排隊中、R = 執行中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cat first_cpu_job-*.out            # 跑完後看日誌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seff &lt;JOB_ID&gt;                      # CPU 與記憶體使用效率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980944"/>
            <a:ext cx="11002975" cy="216738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seff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會印出 CPU 利用率（CPU Utilized）與記憶體利用率（Memory Efficiency）</a:t>
            </a:r>
            <a:endParaRPr lang="en-US" sz="20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&lt;JOB_ID&gt;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就是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Submitted batch job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後面的數字</a:t>
            </a:r>
            <a:endParaRPr lang="en-US" sz="20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作業幾秒就跑完，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squeue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看不到是正常的。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練習 5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03 章 §6-C seff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Slurm Job 提交範例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練習 6：</a:t>
            </a:r>
            <a:r>
              <a:rPr lang="en-US" sz="3200" b="1" dirty="0">
                <a:solidFill>
                  <a:srgbClr val="B45309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salloc</a:t>
            </a: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互動式計算節點（時間夠再做）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1002975" cy="839216"/>
          </a:xfrm>
          <a:prstGeom prst="roundRect">
            <a:avLst>
              <a:gd name="adj" fmla="val 6538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53312"/>
            <a:ext cx="10820095" cy="6929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salloc --account=GOV115088 --partition=ngs62g --nodes=1 \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   --cpus-per-task=8 --mem=62G -t 00:30:00 srun --pty /bin/bash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20544"/>
            <a:ext cx="11002975" cy="56642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申請成功後，會直接進入計算節點：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3088132"/>
            <a:ext cx="11002975" cy="1103376"/>
          </a:xfrm>
          <a:prstGeom prst="roundRect">
            <a:avLst>
              <a:gd name="adj" fmla="val 4972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161284"/>
            <a:ext cx="10820095" cy="9570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salloc: Granted job allocation 421820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salloc: Nodes 25a-cpn01 are ready for job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[user@25a-cpn01 ~]$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4392676"/>
            <a:ext cx="11002975" cy="1103376"/>
          </a:xfrm>
          <a:prstGeom prst="roundRect">
            <a:avLst>
              <a:gd name="adj" fmla="val 4972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465828"/>
            <a:ext cx="10820095" cy="9570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hostname    # 應顯示 25a-cpn*；若顯示 25a-lgn* 表示仍在登入節點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nproc       # 應顯示 8 (申請的核心數)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exit        # ⚠️ 用完一定要離開，釋放資源（停止計費）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5697220"/>
            <a:ext cx="11002975" cy="56642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離開後執行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squeue --me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，清單中沒有這個作業才代表資源已釋放。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</a:t>
            </a:r>
            <a:endParaRPr lang="en-US" sz="1100" dirty="0"/>
          </a:p>
        </p:txBody>
      </p:sp>
      <p:sp>
        <p:nvSpPr>
          <p:cNvPr id="13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練習 6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03 章 §5-D salloc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§12 六個入門練習回顧</a:t>
            </a:r>
            <a:endParaRPr lang="en-US" sz="3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804054"/>
                <a:gridCol w="4570544"/>
                <a:gridCol w="1557854"/>
                <a:gridCol w="4070523"/>
              </a:tblGrid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練習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接在哪一節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本堂課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登入後的環境健檢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§7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必做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 Port 2222 雙向傳檔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選做（在自己電腦操作）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載入生醫模組、體驗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module purge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§8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必做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uv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建立 Python 環境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§10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選做（會寫 Python 的學員）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第一次提交 Slurm 批次作業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§11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時間夠再做（第二堂會完整練習）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salloc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互動式計算節點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§11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時間夠再做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5033772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沒做完的練習改為課後自學，講義第 01 章 §12 有完整步驟。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</a:t>
            </a:r>
            <a:endParaRPr lang="en-US" sz="1100" dirty="0"/>
          </a:p>
        </p:txBody>
      </p:sp>
      <p:sp>
        <p:nvSpPr>
          <p:cNvPr id="3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§12 練習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§13 第 01 章常見問題</a:t>
            </a:r>
            <a:endParaRPr lang="en-US" sz="3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4736592"/>
                <a:gridCol w="6266383"/>
              </a:tblGrid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狀況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解法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ssh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卡住，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Connection timed out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是否在國外？單位防火牆擋 Port 22？改用手機熱點試試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99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SFTP / WinSCP 出現 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Connection refused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連到 Port 22 了，傳檔要用 </a:t>
                      </a: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Port 2222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599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推播一直沒收到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手動打開 IDExpert App；或 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Ctrl+C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重來並改選 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1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OTP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Disk quota exceeded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hfsquota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檢查；大檔案移到 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/work/$USER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sudo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被拒絕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正常。改用 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module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uv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或容器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99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在登入節點跑程式被 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Killed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超過 5 分鐘的重度運算會被系統清除，改用 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sbatch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或 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salloc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599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GB200 出現 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Exec format error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（參考）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登入節點是 x86_64，要進 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gb200-dev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節點重建環境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</a:t>
            </a:r>
            <a:endParaRPr lang="en-US" sz="1100" dirty="0"/>
          </a:p>
        </p:txBody>
      </p:sp>
      <p:sp>
        <p:nvSpPr>
          <p:cNvPr id="40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§13 FAQ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9456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02 章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33756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Antigravity Remote-SSH 與三個 AI Agent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39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02 章：8 個小節與 6 個練習</a:t>
            </a:r>
            <a:endParaRPr lang="en-US" sz="3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575121"/>
                <a:gridCol w="8551143"/>
                <a:gridCol w="1876711"/>
              </a:tblGrid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§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主題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本堂課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為什麼要用 Antigravity Remote-SSH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講解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連上 Nano4：步驟 A–E（含 ssh-proxy）→ 🧪 練習 1、2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裝上三個 AI Agent：安裝擴充套件、登入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三個 Agent 怎麼讀到規則與 Skills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講解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AGENTS.md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治理守則 → 🧪 練習 3、4、5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動手練習 1～6（練習 6 是結尾示範）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實作／示範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多登入節點與 Agent session 清理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參考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常見問題 FAQ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參考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1100" dirty="0"/>
          </a:p>
        </p:txBody>
      </p:sp>
      <p:sp>
        <p:nvSpPr>
          <p:cNvPr id="42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第 02 章講義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02 章 §6 練習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 為什麼要用 Antigravity Remote-SSH？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2985516"/>
          </a:xfrm>
          <a:prstGeom prst="roundRect">
            <a:avLst>
              <a:gd name="adj" fmla="val 1838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28392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[ 你的筆電 ]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└─ Antigravity（本機介面、快捷鍵）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      │  加密 SSH 連線（第 01 章設定的 Host nano4）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      ▼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[ Nano4 登入節點 25a-lgn01～05 ]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├─ Antigravity Server（背景執行）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├─ 三個 AI Agent：內建 Agent、Codex、Claude Code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├─ /work/$USER 高速工作區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└─ Slurm 指令（sbatch、squeue、sacct）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4466844"/>
            <a:ext cx="11002975" cy="1658874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AI Agent 帶到超算上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，讓它直接讀檔、寫腳本、送作業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滑鼠操作檔案總管，不用記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vim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Ctrl + `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開啟遠端終端機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VS Code 也可以，步驟相同，只是沒有內建 Agent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§1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§2 步驟 A：安裝 Antigravity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430098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 </a:t>
            </a:r>
            <a:r>
              <a:rPr lang="en-US" sz="2000" u="sng" dirty="0">
                <a:solidFill>
                  <a:srgbClr val="1D4ED8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https://antigravity.google/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下載安裝，用 Google 帳號登入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Ctrl + Shift + X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開啟擴充套件，確認已有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Remote - SSH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（已內建就略過）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首次連線時，Antigravity 會在 Nano4 的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~/.antigravity-ide-server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安裝伺服器端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1000"/>
              </a:spcBef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VS Code 的同學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 </a:t>
            </a:r>
            <a:r>
              <a:rPr lang="en-US" sz="2000" u="sng" dirty="0">
                <a:solidFill>
                  <a:srgbClr val="1D4ED8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https://code.visualstudio.com/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下載安裝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Remote - SSH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（Microsoft 發行）→ Install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02 章 §2 步驟 A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1"/>
              </a:rPr>
              <a:t>Antigravity 官網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§2 步驟 B–C：連上 Nano4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373481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點左下角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&gt;&lt;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圖示 →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Connect to Host...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 </a:t>
            </a:r>
            <a:r>
              <a:rPr lang="en-US" sz="20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nano4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（讀取第 01 章設定的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~/.ssh/config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平台選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Linux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上方輸入框出現 2FA 選單 → 輸入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2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手機按同意 → 輸入密碼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左下角顯示 </a:t>
            </a:r>
            <a:r>
              <a:rPr lang="en-US" sz="20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SSH: nano4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就成功了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卡在「Waiting for 2FA」？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提示可能縮在視窗頂部，或在「Output → Remote - SSH」分頁裡。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§2 步驟 B–C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§2 步驟 D ＋ 🧪 練習 1：開啟遠端工作區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113639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檔案總管 →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 Folder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輸入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/work/your_account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右鍵新增檔案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my_test.py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，寫入：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51560" y="2617724"/>
            <a:ext cx="10545775" cy="608076"/>
          </a:xfrm>
          <a:prstGeom prst="roundRect">
            <a:avLst>
              <a:gd name="adj" fmla="val 90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690876"/>
            <a:ext cx="10362895" cy="4617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print("Hello from VS Code Remote on Nano4!")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426968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Ctrl + S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存檔，按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Ctrl + `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開啟終端機：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51560" y="4242054"/>
            <a:ext cx="10545775" cy="608076"/>
          </a:xfrm>
          <a:prstGeom prst="roundRect">
            <a:avLst>
              <a:gd name="adj" fmla="val 90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4315206"/>
            <a:ext cx="10362895" cy="4617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python my_test.py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051298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注意：剛才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 Folder 時，是不是又要輸入一次密碼和 OTP？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</a:t>
            </a:r>
            <a:endParaRPr lang="en-US" sz="1100" dirty="0"/>
          </a:p>
        </p:txBody>
      </p:sp>
      <p:sp>
        <p:nvSpPr>
          <p:cNvPr id="12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§2 步驟 D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02 章 練習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§2 步驟 E 問題：為什麼要一直認證？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344982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Nano4 的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每一條新 SSH 連線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都要密碼 + OTP。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Antigravity 在這些時候都會開新連線：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第一次連線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 Folder 選目錄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切換資料夾、重新載入視窗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一堂課可能要認證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好幾次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😩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§2 步驟 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§2 步驟 E 解法：ssh-proxy 只認證一次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02975" cy="2391156"/>
          </a:xfrm>
          <a:prstGeom prst="roundRect">
            <a:avLst>
              <a:gd name="adj" fmla="val 2294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10820095" cy="22448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Antigravity / VS Code / 終端機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    │  連 nano4-proxy（不需 OTP）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    ▼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127.0.0.1:2222   ← ssh-proxy（在你的電腦上執行，視窗保持開著）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    │  已完成密碼 + OTP 的連線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    ▼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nano4.nchc.org.tw:22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872484"/>
            <a:ext cx="11002975" cy="229311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ssh-proxy 先幫你完成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認證，並保持連線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之後所有連線都走這條已認證的通道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額外好處：所有連線固定在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同一台登入節點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</a:t>
            </a:r>
            <a:r>
              <a:rPr lang="en-US" sz="2000" u="sng" dirty="0">
                <a:solidFill>
                  <a:srgbClr val="1D4ED8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https://github.com/gemini960114/ssh-proxy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46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02 章 §2 步驟 E ssh-proxy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1"/>
              </a:rPr>
              <a:t>ssh-proxy GitHub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§2 ssh-proxy 設定 1：下載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 </a:t>
            </a:r>
            <a:r>
              <a:rPr lang="en-US" sz="2200" u="sng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Releases 頁面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</a:t>
            </a:r>
            <a:r>
              <a:rPr lang="en-US" sz="2000" u="sng" dirty="0">
                <a:solidFill>
                  <a:srgbClr val="1D4ED8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https://github.com/gemini960114/ssh-proxy/releases/latest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下載（免安裝 Python）：</a:t>
            </a:r>
            <a:endParaRPr lang="en-US" sz="22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491994"/>
          <a:ext cx="11002975" cy="914400"/>
        </p:xfrm>
        <a:graphic>
          <a:graphicData uri="http://schemas.openxmlformats.org/drawingml/2006/table">
            <a:tbl>
              <a:tblPr/>
              <a:tblGrid>
                <a:gridCol w="5409377"/>
                <a:gridCol w="5593598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你的電腦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下載檔案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Windows 10 / 11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ssh-proxy-windows-x64.exe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macOS Apple Silicon（M1–M4）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ssh-proxy-macos-arm64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Linux x64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ssh-proxy-linux-x64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4723130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 Mac 沒有預先編譯的檔案，需依 ssh-proxy README 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uv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從原始碼執行。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47</a:t>
            </a:r>
            <a:endParaRPr lang="en-US" sz="1100" dirty="0"/>
          </a:p>
        </p:txBody>
      </p:sp>
      <p:sp>
        <p:nvSpPr>
          <p:cNvPr id="4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02 章 §2 步驟 E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1"/>
              </a:rPr>
              <a:t>ssh-proxy 下載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§2 ssh-proxy 設定 2：加入 </a:t>
            </a:r>
            <a:r>
              <a:rPr lang="en-US" sz="3200" b="1" dirty="0">
                <a:solidFill>
                  <a:srgbClr val="1B3A6B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nano4-proxy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自己電腦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~/.ssh/config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再加一段（保留原本的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Host nano4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2095246"/>
            <a:ext cx="11002975" cy="3282696"/>
          </a:xfrm>
          <a:prstGeom prst="roundRect">
            <a:avLst>
              <a:gd name="adj" fmla="val 167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68398"/>
            <a:ext cx="10820095" cy="31363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Host nano4-proxy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HostName 127.0.0.1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Port 2222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User your_account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# 這兩行只能用在 127.0.0.1 這個別名，絕對不要加到 nano4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StrictHostKeyChecking no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UserKnownHostsFile /dev/null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LogLevel ERROR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ServerAliveInterval 30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ServerAliveCountMax 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5579110"/>
            <a:ext cx="11002975" cy="749300"/>
          </a:xfrm>
          <a:prstGeom prst="roundRect">
            <a:avLst>
              <a:gd name="adj" fmla="val 9763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652262"/>
            <a:ext cx="10728655" cy="60299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記得把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your_account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改成</a:t>
            </a:r>
            <a:r>
              <a:rPr lang="en-US" sz="2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自己的帳號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48</a:t>
            </a:r>
            <a:endParaRPr lang="en-US" sz="1100" dirty="0"/>
          </a:p>
        </p:txBody>
      </p:sp>
      <p:sp>
        <p:nvSpPr>
          <p:cNvPr id="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§2 步驟 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§2 ssh-proxy 設定 3：啟動並認證一次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自己電腦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的終端機執行，並讓這個視窗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保持開著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2095246"/>
            <a:ext cx="11002975" cy="2391156"/>
          </a:xfrm>
          <a:prstGeom prst="roundRect">
            <a:avLst>
              <a:gd name="adj" fmla="val 2294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68398"/>
            <a:ext cx="10820095" cy="22448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Windows (PowerShell)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.\ssh-proxy-windows-x64.exe nano4 --max-lifetime 10h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macOS Apple Silicon（第一次需加執行權限並解除下載隔離）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chmod +x ssh-proxy-macos-arm64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xattr -d com.apple.quarantine ssh-proxy-macos-arm64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./ssh-proxy-macos-arm64 nano4 --max-lifetime 10h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687570"/>
            <a:ext cx="11002975" cy="1658874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第一次會顯示 Nano4 的主機金鑰指紋 → 輸入完整的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yes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依提示輸入密碼與 OTP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--max-lifetime 10h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：預設 8 小時會自動停止，加上這個撐過一整天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49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§2 步驟 E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ssh-proxy README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練習 2：確認只需認證一次（10 分鐘）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56642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另開一個本機終端機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，連續連線兩次：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2047748"/>
            <a:ext cx="11002975" cy="839216"/>
          </a:xfrm>
          <a:prstGeom prst="roundRect">
            <a:avLst>
              <a:gd name="adj" fmla="val 6538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20900"/>
            <a:ext cx="10820095" cy="6929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ssh nano4-proxy hostname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ssh nano4-proxy 'echo $USER; hfsquota'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088132"/>
            <a:ext cx="11002975" cy="324612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兩次都直接顯示結果，</a:t>
            </a: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不再要求密碼或 OTP</a:t>
            </a:r>
            <a:endParaRPr lang="en-US" sz="20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9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接著在 Antigravity：</a:t>
            </a:r>
            <a:endParaRPr lang="en-US" sz="20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Connect to Host...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選 </a:t>
            </a:r>
            <a:r>
              <a:rPr lang="en-US" sz="18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nano4-proxy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（不是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nano4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20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 Folder 開啟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/work/&lt;帳號&gt;</a:t>
            </a:r>
            <a:endParaRPr lang="en-US" sz="20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再切換到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/home/&lt;帳號&gt;/Nano4-Docs</a:t>
            </a:r>
            <a:endParaRPr lang="en-US" sz="20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9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切換資料夾時不再出現 OTP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</a:t>
            </a:r>
            <a:endParaRPr lang="en-US" sz="1100" dirty="0"/>
          </a:p>
        </p:txBody>
      </p:sp>
      <p:sp>
        <p:nvSpPr>
          <p:cNvPr id="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練習 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§2 ssh-proxy 使用注意</a:t>
            </a:r>
            <a:endParaRPr lang="en-US" sz="32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5501488"/>
                <a:gridCol w="5501488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狀況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自動停止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沒有任何連線 </a:t>
                      </a: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 分鐘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，或總執行 </a:t>
                      </a: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小時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後會停止（可用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--max-lifetime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延長）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Connection refused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proxy 已停止 → 重新啟動（再認證一次）並重新連線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Address already in use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已經有另一個 proxy 在用 2222 埠，先關掉它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REMOTE HOST IDENTIFICATION HAS CHANGED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proxy 會在送出密碼前停止；先向國網中心確認，</a:t>
                      </a: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不要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直接刪除舊金鑰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" y="5317236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只在自己的電腦上使用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：proxy 執行期間，同一台電腦的其他程式也能透過它進入你的帳號。離開座位或使用共用電腦時，請在 proxy 視窗按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Ctrl+C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</a:t>
            </a:r>
            <a:endParaRPr lang="en-US" sz="1100" dirty="0"/>
          </a:p>
        </p:txBody>
      </p:sp>
      <p:sp>
        <p:nvSpPr>
          <p:cNvPr id="53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§2 步驟 E 使用注意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02 章 §7 session 清理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§3 三個 AI Agent，自由切換</a:t>
            </a:r>
            <a:endParaRPr lang="en-US" sz="32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3190832"/>
                <a:gridCol w="4670894"/>
                <a:gridCol w="3141249"/>
              </a:tblGrid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怎麼取得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需要的帳號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Antigravity 內建 Agent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內建，不需安裝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Google 帳號（已登入）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Codex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擴充套件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openai.chatgpt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ChatGPT 帳號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 Code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擴充套件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anthropic.claude-code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 帳號或 API key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" y="3439160"/>
            <a:ext cx="11002975" cy="108889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同一個問題，請三個 Agent 各回答一次，互相比對</a:t>
            </a:r>
            <a:endParaRPr lang="en-US" sz="21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你不必背指令：</a:t>
            </a:r>
            <a:r>
              <a:rPr lang="en-US" sz="21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說出想做的分析</a:t>
            </a:r>
            <a:r>
              <a:rPr lang="en-US" sz="2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，由 Agent 寫腳本、送作業、解讀結果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94360" y="4729226"/>
            <a:ext cx="11002975" cy="1068197"/>
          </a:xfrm>
          <a:prstGeom prst="roundRect">
            <a:avLst>
              <a:gd name="adj" fmla="val 6848"/>
            </a:avLst>
          </a:prstGeom>
          <a:solidFill>
            <a:srgbClr val="EEF3FB"/>
          </a:solidFill>
          <a:ln w="12700">
            <a:solidFill>
              <a:srgbClr val="B9CC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802378"/>
            <a:ext cx="10728655" cy="921893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Antigravity 內建 Agent 也能完成所有練習；有帳號的同學再加裝另外兩個來比較。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52</a:t>
            </a:r>
            <a:endParaRPr lang="en-US" sz="1100" dirty="0"/>
          </a:p>
        </p:txBody>
      </p:sp>
      <p:sp>
        <p:nvSpPr>
          <p:cNvPr id="54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§3 三個 Agent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§3-A 安裝擴充套件：裝在遠端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連上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nano4-proxy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後，按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Ctrl + `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開啟終端機：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2095246"/>
            <a:ext cx="11002975" cy="905256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68398"/>
            <a:ext cx="10820095" cy="7589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"$HOME/Nano4-Docs/02-vscode-and-ai-tools/scripts"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install_vscode_extensions.sh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201670"/>
            <a:ext cx="11002975" cy="113639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腳本會安裝 Codex、Claude Code，以及 Python、Jupyter 套件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也可以在 Extensions 面板搜尋，點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Install in SSH: nano4-proxy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4539234"/>
            <a:ext cx="11002975" cy="1109980"/>
          </a:xfrm>
          <a:prstGeom prst="roundRect">
            <a:avLst>
              <a:gd name="adj" fmla="val 6590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612386"/>
            <a:ext cx="10728655" cy="96367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Agent 要裝在</a:t>
            </a:r>
            <a:r>
              <a:rPr lang="en-US" sz="2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遠端（SSH）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，才能讀取 Nano4 上的檔案、在 Nano4 上執行指令。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53</a:t>
            </a:r>
            <a:endParaRPr lang="en-US" sz="1100" dirty="0"/>
          </a:p>
        </p:txBody>
      </p:sp>
      <p:sp>
        <p:nvSpPr>
          <p:cNvPr id="10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§3-A 安裝擴充套件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安裝腳本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§3-A 腳本會安裝哪些套件？</a:t>
            </a:r>
            <a:endParaRPr lang="en-US" sz="32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2118438"/>
                <a:gridCol w="4023958"/>
                <a:gridCol w="4860579"/>
              </a:tblGrid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套件類別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識別碼 (Extension ID)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核心功能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Codex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openai.chatgpt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OpenAI 的 AI Agent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 Code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anthropic.claude-code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Anthropic 的 AI Agent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Python 核心環境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ms-python.python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Python 語法高亮、虛擬環境自動偵測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14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Python 除錯器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ms-python.debugpy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斷點除錯、單步執行與變數檢視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599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Jupyter 互動運算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ms-toolsai.jupyter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執行 </a:t>
                      </a: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.ipynb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Notebook 的運算引擎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99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Jupyter 渲染器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ms-toolsai.jupyter-renderers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支援 Plotly 互動圖表與 DataFrame 表格檢視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" y="5358384"/>
            <a:ext cx="11002975" cy="92710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Antigravity 內建 Agent 不需要安裝；Codex 與 Claude Code 需要學員自己的帳號。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54</a:t>
            </a:r>
            <a:endParaRPr lang="en-US" sz="1100" dirty="0"/>
          </a:p>
        </p:txBody>
      </p:sp>
      <p:sp>
        <p:nvSpPr>
          <p:cNvPr id="56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§3-A 套件清單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安裝腳本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§3-B 登入各個 Agent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205562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Codex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：點左側活動列的 Codex 圖示 →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Sign in with ChatGPT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Code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：點左側活動列的 Claude 圖示 → 登入 Claude 帳號（或填 API key）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Antigravity 內建 Agent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：打開 Agent 面板即可使用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3536950"/>
            <a:ext cx="11002975" cy="1109980"/>
          </a:xfrm>
          <a:prstGeom prst="roundRect">
            <a:avLst>
              <a:gd name="adj" fmla="val 6590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610102"/>
            <a:ext cx="10728655" cy="96367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三個 Agent 都在</a:t>
            </a:r>
            <a:r>
              <a:rPr lang="en-US" sz="20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登入節點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執行指令：運算一定要讓 Agent 用 </a:t>
            </a:r>
            <a:r>
              <a:rPr lang="en-US" sz="18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</a:t>
            </a:r>
            <a:r>
              <a:rPr lang="en-US" sz="20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送到計算節點。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55</a:t>
            </a:r>
            <a:endParaRPr lang="en-US" sz="1100" dirty="0"/>
          </a:p>
        </p:txBody>
      </p:sp>
      <p:sp>
        <p:nvSpPr>
          <p:cNvPr id="7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§3-B 登入 Agent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§3-B Agent 要執行指令時，會先問你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384657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Codex、Claude Code 在執行指令或寫入檔案前，會跳出確認視窗：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先看它要跑什麼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，不要直接按「允許」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檢查帳號、佇列與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-c 8 --mem=62G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看到在登入節點直接執行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fastqc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multiqc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等運算 →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拒絕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，請它改用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看不懂的指令 → 先問 Agent：「這個指令是做什麼的？」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你負責確認，AI 負責執行。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56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AGENTS.md 守則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02 章 §5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§4 Agent 從哪裡讀到 Nano4 的規則與 Skills？</a:t>
            </a:r>
            <a:endParaRPr lang="en-US" sz="32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2484120"/>
                <a:gridCol w="3363925"/>
                <a:gridCol w="2045970"/>
                <a:gridCol w="3108960"/>
              </a:tblGrid>
              <a:tr h="723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讀取的規則檔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工作資料夾的 Skills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個人的 Skills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Antigravity 內建 Agent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.agents/rules/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（教材的 </a:t>
                      </a: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nano4.md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會引用 </a:t>
                      </a: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AGENTS.md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.agents/skills/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~/.gemini/config/skills/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Codex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AGENTS.md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.agents/skills/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~/.agents/skills/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 Code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CLAUDE.md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（教材的 </a:t>
                      </a: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CLAUDE.md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匯入 </a:t>
                      </a: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AGENTS.md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.claude/skills/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~/.claude/skills/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" y="4376928"/>
            <a:ext cx="11002975" cy="1445133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Open Folder 開啟 </a:t>
            </a:r>
            <a:r>
              <a:rPr lang="en-US" sz="17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$HOME/Nano4-Docs</a:t>
            </a: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，三個 Agent 都會讀到規則</a:t>
            </a:r>
            <a:endParaRPr lang="en-US" sz="19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開啟其他資料夾時讀不到 → 在對話開頭說「請先閱讀 AGENTS.md」</a:t>
            </a:r>
            <a:endParaRPr lang="en-US" sz="19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Skills 第二堂才會用到：學員會做出自己的 skill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my-nano4-slurm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57</a:t>
            </a:r>
            <a:endParaRPr lang="en-US" sz="1100" dirty="0"/>
          </a:p>
        </p:txBody>
      </p:sp>
      <p:sp>
        <p:nvSpPr>
          <p:cNvPr id="5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§4 規則與 Skills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　　</a:t>
            </a:r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🔗 官方：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Antigravity Rules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Antigravity Skills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§5 AI 不知道超算的規矩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344982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助手預設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超級電腦是多人共用的，可能會建議：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sudo apt install ...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把 50 GB 模型下載到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$HOME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在登入節點直接跑大型運算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為了「省資源」把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--mem</a:t>
            </a:r>
            <a:r>
              <a:rPr lang="en-US" sz="22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調小</a:t>
            </a:r>
            <a:endParaRPr lang="en-US" sz="22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解法：在 repo 根目錄放一份 </a:t>
            </a:r>
            <a:r>
              <a:rPr lang="en-US" sz="20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AGENTS.md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，告訴 AI 這台機器的規則。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§5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AGENTS.md 守則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§5 </a:t>
            </a:r>
            <a:r>
              <a:rPr lang="en-US" sz="3200" b="1" dirty="0">
                <a:solidFill>
                  <a:srgbClr val="1B3A6B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AGENTS.md</a:t>
            </a: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：給 AI 的 Nano4 守則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4019804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禁止 </a:t>
            </a:r>
            <a:r>
              <a:rPr lang="en-US" sz="20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sudo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：軟體改用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uv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或 Apptainer 容器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大資料放 </a:t>
            </a:r>
            <a:r>
              <a:rPr lang="en-US" sz="20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/work/$USER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：不塞爆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$HOME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，不寫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/tmp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登入節點不跑重度運算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：一律封裝成 Slurm 作業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Slurm 標準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module purge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放第一行、日誌用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%x-%j.out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、不反覆查詢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squeue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本課程設定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GOV115088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只能用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，固定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-c 8 --mem=62G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替使用者操作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：先用白話說明計畫、等你同意再送出，跑完用白話解讀結果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59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AGENTS.md 全文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02 章 §5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練習 3：裝上三個 Agent 並打招呼（10 分鐘）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1658874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 Folder 開啟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/home/&lt;帳號&gt;/Nano4-Docs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install_vscode_extensions.sh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，登入你有帳號的 Agent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對每個 Agent 輸入同一句話：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3140202"/>
            <a:ext cx="11002975" cy="905256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213354"/>
            <a:ext cx="10820095" cy="7589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請先閱讀 AGENTS.md。用三句話告訴我：我現在在哪一台電腦上？這門課我能用哪個計畫和佇列？每個作業要申請多少核心和記憶體？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4246626"/>
            <a:ext cx="11002975" cy="101066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三個 Agent 都能說出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25a-lgn0X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GOV115088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與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-c 8 --mem=62G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</a:t>
            </a:r>
            <a:endParaRPr lang="en-US" sz="1100" dirty="0"/>
          </a:p>
        </p:txBody>
      </p:sp>
      <p:sp>
        <p:nvSpPr>
          <p:cNvPr id="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練習 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練習 4：三個 Agent 解釋同一支範本（10 分鐘）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對每個 Agent 輸入相同的 prompt：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2095246"/>
            <a:ext cx="11002975" cy="1133856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2168398"/>
            <a:ext cx="10820095" cy="9875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請先閱讀 AGENTS.md，再解釋 03-slurm-syntax-and-job-management/templates/standard_cpu_job.slurm 每一個 #SBATCH 參數的用途，但先不要修改檔案。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430270"/>
            <a:ext cx="11002975" cy="281559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比較它們的回答：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是否都說出 </a:t>
            </a:r>
            <a:r>
              <a:rPr lang="en-US" sz="20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GOV115088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只能使用 </a:t>
            </a:r>
            <a:r>
              <a:rPr lang="en-US" sz="20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有沒有 Agent 建議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</a:t>
            </a:r>
            <a:r>
              <a:rPr lang="en-US" sz="20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--mem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調小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這是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錯誤建議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：國網規定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必須固定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-c 8 --mem=62G</a:t>
            </a:r>
            <a:endParaRPr lang="en-US" sz="22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哪個 Agent 的說明最容易懂？哪個最精確？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61</a:t>
            </a:r>
            <a:endParaRPr lang="en-US" sz="1100" dirty="0"/>
          </a:p>
        </p:txBody>
      </p:sp>
      <p:sp>
        <p:nvSpPr>
          <p:cNvPr id="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練習 4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範本 standard_cpu_job.slurm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練習 5：人工驗證 AI 的建議（5 分鐘）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51892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的回答只是建議，</a:t>
            </a:r>
            <a:r>
              <a:rPr lang="en-US" sz="18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最後要由你自己驗證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000250"/>
            <a:ext cx="11002975" cy="1466596"/>
          </a:xfrm>
          <a:prstGeom prst="roundRect">
            <a:avLst>
              <a:gd name="adj" fmla="val 374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73402"/>
            <a:ext cx="10820095" cy="13202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sinfo -p ngs62g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-n 03-slurm-syntax-and-job-management/templates/standard_cpu_job.slurm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 --test-only --account=GOV115088 \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03-slurm-syntax-and-job-management/templates/standard_cpu_job.slurm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668014"/>
            <a:ext cx="11002975" cy="51892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預期結果：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4388104"/>
            <a:ext cx="11002975" cy="1004316"/>
          </a:xfrm>
          <a:prstGeom prst="roundRect">
            <a:avLst>
              <a:gd name="adj" fmla="val 546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461256"/>
            <a:ext cx="10820095" cy="85801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（bash -n 沒有任何輸出 = 語法正確）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sbatch: Job 426753 to start at 2026-09-23T20:19:09 using 8 processors on nodes 25a-cpn01 in partition ngs62g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5593588"/>
            <a:ext cx="11002975" cy="654304"/>
          </a:xfrm>
          <a:prstGeom prst="roundRect">
            <a:avLst>
              <a:gd name="adj" fmla="val 11180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666740"/>
            <a:ext cx="10728655" cy="50800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</a:t>
            </a:r>
            <a:r>
              <a:rPr lang="en-US" sz="15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--test-only</a:t>
            </a:r>
            <a:r>
              <a:rPr lang="en-US" sz="16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只檢查</a:t>
            </a:r>
            <a:r>
              <a:rPr lang="en-US" sz="16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帳號與分區</a:t>
            </a:r>
            <a:r>
              <a:rPr lang="en-US" sz="16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16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不檢查</a:t>
            </a:r>
            <a:r>
              <a:rPr lang="en-US" sz="16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官方規格（</a:t>
            </a:r>
            <a:r>
              <a:rPr lang="en-US" sz="15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-c 8 --mem=62G</a:t>
            </a:r>
            <a:r>
              <a:rPr lang="en-US" sz="16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），這部分要自己對照。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62</a:t>
            </a:r>
            <a:endParaRPr lang="en-US" sz="1100" dirty="0"/>
          </a:p>
        </p:txBody>
      </p:sp>
      <p:sp>
        <p:nvSpPr>
          <p:cNvPr id="13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練習 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練習 6 A：手動送出質控作業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92710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個定序樣本（FASTQ，各 1000 reads）→ FastQC 逐一檢查 → MultiQC 彙整成一份報告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2408428"/>
            <a:ext cx="11002975" cy="1631696"/>
          </a:xfrm>
          <a:prstGeom prst="roundRect">
            <a:avLst>
              <a:gd name="adj" fmla="val 3362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481580"/>
            <a:ext cx="10820095" cy="148539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/work/$USER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sbatch "$HOME/Nano4-Docs/02-vscode-and-ai-tools/templates/day1_fastqc_multiqc.slurm"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sacct -X -o JobID,JobName,State,Elapsed      # 跑完後 State 為 COMPLETED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tail -3 day1_qc-*.out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4241292"/>
            <a:ext cx="11002975" cy="56642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日誌最後一行：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5008880"/>
            <a:ext cx="11002975" cy="575056"/>
          </a:xfrm>
          <a:prstGeom prst="roundRect">
            <a:avLst>
              <a:gd name="adj" fmla="val 9541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5082032"/>
            <a:ext cx="10820095" cy="4287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✅ 完成！MultiQC 報告：/work/&lt;帳號&gt;/day1_qc/multiqc_out/multiqc_report.html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785104"/>
            <a:ext cx="11002975" cy="56642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作業約 10 秒就跑完。腳本每一行的意思，第二堂會學到。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63</a:t>
            </a:r>
            <a:endParaRPr lang="en-US" sz="1100" dirty="0"/>
          </a:p>
        </p:txBody>
      </p:sp>
      <p:sp>
        <p:nvSpPr>
          <p:cNvPr id="12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練習 6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腳本 day1_fastqc_multiqc.slurm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🧪 練習 6 B：一句自然語言，請 Agent 做同一件事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在工作資料夾為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Nano4-Docs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 Antigravity，對任一個 Agent 輸入：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2095246"/>
            <a:ext cx="11002975" cy="2093976"/>
          </a:xfrm>
          <a:prstGeom prst="roundRect">
            <a:avLst>
              <a:gd name="adj" fmla="val 2620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68398"/>
            <a:ext cx="10820095" cy="19476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我有 4 個定序樣本（FASTQ），放在 04-ai-assisted-bio-pipeline/demo_data/fastq_raw/。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請幫我檢查這些樣本的定序品質：用 FastQC 逐一檢查，再用 MultiQC 彙整成一份報告，結果放在 /work/$USER/day1_qc_ai/。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請依照 AGENTS.md 把工作送到計算節點執行。送出前先用三到五句話告訴我你的計畫，等我同意再送出；跑完後用白話告訴我這 4 個樣本的品質如何。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4390390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你沒有打任何指令，只說了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想完成的分析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64</a:t>
            </a:r>
            <a:endParaRPr lang="en-US" sz="1100" dirty="0"/>
          </a:p>
        </p:txBody>
      </p:sp>
      <p:sp>
        <p:nvSpPr>
          <p:cNvPr id="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練習 6 B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MultiQC 報告，看一眼成果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238734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報告在遠端 Nano4 上，兩種打開方式：</a:t>
            </a:r>
            <a:endParaRPr lang="en-US" sz="17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方式 A：下載到筆電</a:t>
            </a:r>
            <a:endParaRPr lang="en-US" sz="1700" dirty="0"/>
          </a:p>
          <a:p>
            <a:pPr indent="0" marL="0">
              <a:lnSpc>
                <a:spcPct val="105000"/>
              </a:lnSpc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檔案總管找到 </a:t>
            </a:r>
            <a:r>
              <a:rPr lang="en-US" sz="16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/work/&lt;帳號&gt;/day1_qc/multiqc_out/multiqc_report.html</a:t>
            </a:r>
            <a:r>
              <a:rPr lang="en-US" sz="17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按右鍵 → </a:t>
            </a:r>
            <a:r>
              <a:rPr lang="en-US" sz="17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Download...</a:t>
            </a:r>
            <a:r>
              <a:rPr lang="en-US" sz="17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在筆電瀏覽器開啟</a:t>
            </a:r>
            <a:endParaRPr lang="en-US" sz="1700" dirty="0"/>
          </a:p>
          <a:p>
            <a:pPr indent="0" marL="0">
              <a:lnSpc>
                <a:spcPct val="105000"/>
              </a:lnSpc>
              <a:spcBef>
                <a:spcPts val="800"/>
              </a:spcBef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方式 B：連接埠轉送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94360" y="3868674"/>
            <a:ext cx="11002975" cy="773176"/>
          </a:xfrm>
          <a:prstGeom prst="roundRect">
            <a:avLst>
              <a:gd name="adj" fmla="val 7096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941826"/>
            <a:ext cx="10820095" cy="6268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"$HOME/Nano4-Docs/04-ai-assisted-bio-pipeline/scripts"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view_multiqc_report.sh /work/$USER/day1_qc/multiqc_out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843018"/>
            <a:ext cx="11002975" cy="1388999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依畫面提示在瀏覽器打開 </a:t>
            </a:r>
            <a:r>
              <a:rPr lang="en-US" sz="16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http://localhost:&lt;埠號&gt;/multiqc_report.html</a:t>
            </a:r>
            <a:endParaRPr lang="en-US" sz="17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看完執行 </a:t>
            </a:r>
            <a:r>
              <a:rPr lang="en-US" sz="16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tmux kill-session -t svc-multiqc-report</a:t>
            </a:r>
            <a:r>
              <a:rPr lang="en-US" sz="17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關閉預覽</a:t>
            </a:r>
            <a:endParaRPr lang="en-US" sz="1700" dirty="0"/>
          </a:p>
          <a:p>
            <a:pPr indent="0" marL="0">
              <a:lnSpc>
                <a:spcPct val="105000"/>
              </a:lnSpc>
              <a:spcBef>
                <a:spcPts val="700"/>
              </a:spcBef>
              <a:spcAft>
                <a:spcPts val="8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先看一眼：4 個樣本的品質分數都在綠色區。怎麼讀懂整份報告，第二堂第 04 章會教。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</a:t>
            </a:r>
            <a:endParaRPr lang="en-US" sz="1100" dirty="0"/>
          </a:p>
        </p:txBody>
      </p:sp>
      <p:sp>
        <p:nvSpPr>
          <p:cNvPr id="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04 章 §6 檢視報告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04 章 §7 讀懂報告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6：比較兩種送法</a:t>
            </a:r>
            <a:endParaRPr lang="en-US" sz="32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8111820"/>
                <a:gridCol w="1137920"/>
                <a:gridCol w="1753235"/>
              </a:tblGrid>
              <a:tr h="796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檢查項目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手動腳本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產生的腳本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--account=GOV115088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--partition=ngs62g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?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--cpus-per-task=8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--mem=62G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?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96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module purge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後載入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biology/JDK/26.0.1 biology/FastQC/0.11.9 biology/MultiQC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?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sbatch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送到計算節點，不在登入節點直接跑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?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送出後沒有反覆查詢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squeue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?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用白話解讀品質結果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?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5520690"/>
            <a:ext cx="11002975" cy="725551"/>
          </a:xfrm>
          <a:prstGeom prst="roundRect">
            <a:avLst>
              <a:gd name="adj" fmla="val 10082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93842"/>
            <a:ext cx="10728655" cy="579247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Agent 做錯時，</a:t>
            </a:r>
            <a:r>
              <a:rPr lang="en-US" sz="19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用說的</a:t>
            </a:r>
            <a:r>
              <a:rPr lang="en-US" sz="19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告訴它違反了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AGENTS.md</a:t>
            </a:r>
            <a:r>
              <a:rPr lang="en-US" sz="19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哪一條，讓它修正後重來。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66</a:t>
            </a:r>
            <a:endParaRPr lang="en-US" sz="1100" dirty="0"/>
          </a:p>
        </p:txBody>
      </p:sp>
      <p:sp>
        <p:nvSpPr>
          <p:cNvPr id="68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練習 6 比較表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§7 多登入節點與 Agent session 清理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127101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連線可能被分到 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25a-lgn01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～</a:t>
            </a:r>
            <a:r>
              <a:rPr lang="en-US" sz="17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25a-lgn05</a:t>
            </a: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不同主機；舊主機上的 Agent 沒有結束時，看起來會像 session 卡住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使用 ssh-proxy 時，所有連線固定在同一台登入節點，比較不會遇到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2752344"/>
            <a:ext cx="11002975" cy="2391156"/>
          </a:xfrm>
          <a:prstGeom prst="roundRect">
            <a:avLst>
              <a:gd name="adj" fmla="val 2294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825496"/>
            <a:ext cx="10820095" cy="224485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cd "$HOME/Nano4-Docs"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chmod +x 02-vscode-and-ai-tools/scripts/kill.sh \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          02-vscode-and-ai-tools/scripts/kill_login.sh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只清理目前這台登入節點：會先列出匹配程序，再要求確認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02-vscode-and-ai-tools/scripts/kill.sh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# 清理五台登入節點上的 stale agent（不會再詢問確認，會直接執行）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bash 02-vscode-and-ai-tools/scripts/kill_login.sh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5344668"/>
            <a:ext cx="11002975" cy="942848"/>
          </a:xfrm>
          <a:prstGeom prst="roundRect">
            <a:avLst>
              <a:gd name="adj" fmla="val 7759"/>
            </a:avLst>
          </a:prstGeom>
          <a:solidFill>
            <a:srgbClr val="FEF3F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417820"/>
            <a:ext cx="10728655" cy="796544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請從一般 SSH 終端機（</a:t>
            </a:r>
            <a:r>
              <a:rPr lang="en-US" sz="15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ssh nano4</a:t>
            </a:r>
            <a:r>
              <a:rPr lang="en-US" sz="16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）執行，</a:t>
            </a:r>
            <a:r>
              <a:rPr lang="en-US" sz="16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</a:t>
            </a:r>
            <a:r>
              <a:rPr lang="en-US" sz="160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Antigravity 整合終端機內執行，否則會立即斷線。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67</a:t>
            </a:r>
            <a:endParaRPr lang="en-US" sz="1100" dirty="0"/>
          </a:p>
        </p:txBody>
      </p:sp>
      <p:sp>
        <p:nvSpPr>
          <p:cNvPr id="9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§7 session 清理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清理腳本 kill_login.sh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§8 第 02 章常見問題</a:t>
            </a:r>
            <a:endParaRPr lang="en-US" sz="32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5160137"/>
                <a:gridCol w="5842838"/>
              </a:tblGrid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狀況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解法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796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卡在「Waiting for 2FA...」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看視窗頂部輸入框，或 Output → Remote - SSH 分頁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6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找不到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/work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File → Open Folder，手動輸入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/work/你的帳號/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96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nano4-proxy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出現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Connection refused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proxy 視窗被關掉或已逾時，重新啟動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4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找不到 Codex 或 Claude Code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確認左下角是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SSH: nano4-proxy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，再裝到遠端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96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 不知道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GOV115088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ngs62g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工作資料夾要開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$HOME/Nano4-Docs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，開新對話再問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6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Jupyter 選不到 Kernel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遠端要裝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ms-toolsai.jupyter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ms-python.python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，環境要裝 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ipykernel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68</a:t>
            </a:r>
            <a:endParaRPr lang="en-US" sz="1100" dirty="0"/>
          </a:p>
        </p:txBody>
      </p:sp>
      <p:sp>
        <p:nvSpPr>
          <p:cNvPr id="70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02 章 §8 FAQ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今天最重要的一件事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3544824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替你寫指令、送作業、解讀結果。</a:t>
            </a:r>
            <a:endParaRPr lang="en-US" sz="240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你負責確認它的計畫與結果是否正確。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確認計畫：帳號、佇列、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-c 8 --mem=62G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、資料放哪裡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確認結果：作業真的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COMPLETED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、報告真的產生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發現錯誤：用說的糾正它</a:t>
            </a:r>
            <a:endParaRPr lang="en-US" sz="24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第二堂：把這些「糾正 AI」的經驗，存成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你自己的 skill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69</a:t>
            </a:r>
            <a:endParaRPr lang="en-US" sz="1100" dirty="0"/>
          </a:p>
        </p:txBody>
      </p:sp>
      <p:sp>
        <p:nvSpPr>
          <p:cNvPr id="5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03 章 §9 我的 skill（第二堂）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今天學到了什麼</a:t>
            </a:r>
            <a:endParaRPr lang="en-US" sz="32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1375955"/>
                <a:gridCol w="9627020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主題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重點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連線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ssh nano4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＋ 2FA；ssh-proxy 讓 Antigravity 只認證一次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儲存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程式碼放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$HOME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、資料放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/work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、不放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/tmp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；用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hfsquota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查配額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軟體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module load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；FastQC 要搭配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biology/JDK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Slurm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GOV115088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→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ngs62g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→ 固定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-c 8 --mem=62G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Agent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三個 Agent 裝在遠端；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AGENTS.md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讓它們守規則；用自然語言派送作業，自己驗證結果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70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下課前檢核 ✅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245237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☐  1.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能透過 </a:t>
            </a:r>
            <a:r>
              <a:rPr lang="en-US" sz="20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nano4-proxy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用 Antigravity 開啟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/work/&lt;帳號&gt;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，而且不再輸入 OTP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☐  2.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至少一個 Agent 能說出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GOV115088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ngs62g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與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-c 8 --mem=62G</a:t>
            </a:r>
            <a:endParaRPr lang="en-US" sz="2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☐  3.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sacct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查得到練習 6 的作業：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51560" y="3933698"/>
            <a:ext cx="10545775" cy="608076"/>
          </a:xfrm>
          <a:prstGeom prst="roundRect">
            <a:avLst>
              <a:gd name="adj" fmla="val 9023"/>
            </a:avLst>
          </a:prstGeom>
          <a:solidFill>
            <a:srgbClr val="F3F4F6"/>
          </a:solidFill>
          <a:ln w="12700">
            <a:solidFill>
              <a:srgbClr val="CB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4006850"/>
            <a:ext cx="10362895" cy="461772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sacct -X -o JobID,JobName,State,Elapsed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742942"/>
            <a:ext cx="11002975" cy="613918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☐  4. 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離開前在 proxy 視窗按 </a:t>
            </a:r>
            <a:r>
              <a:rPr lang="en-US" sz="2000" b="1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Ctrl+C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（尤其是共用電腦）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71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課後自學（選做）</a:t>
            </a:r>
            <a:endParaRPr lang="en-US" sz="32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11002975" cy="914400"/>
        </p:xfrm>
        <a:graphic>
          <a:graphicData uri="http://schemas.openxmlformats.org/drawingml/2006/table">
            <a:tbl>
              <a:tblPr/>
              <a:tblGrid>
                <a:gridCol w="3190396"/>
                <a:gridCol w="7812579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章節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01 章 練習 2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 Port 2222 雙向傳檔（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scp -P 2222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）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01 章 練習 4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uv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在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/work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建立 Python 環境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01 章 練習 6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 </a:t>
                      </a:r>
                      <a:r>
                        <a:rPr lang="en-US" sz="1700" dirty="0">
                          <a:solidFill>
                            <a:srgbClr val="111827"/>
                          </a:solidFill>
                          <a:highlight>
                            <a:srgbClr val="E8ECF2"/>
                          </a:highlight>
                          <a:latin typeface="Consolas" pitchFamily="34" charset="0"/>
                          <a:ea typeface="Microsoft JhengHei" pitchFamily="34" charset="-122"/>
                          <a:cs typeface="Consolas" pitchFamily="34" charset="-120"/>
                        </a:rPr>
                        <a:t>salloc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進入互動式計算節點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01 章 §6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從台灣杉三號（T3）搬遷資料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02 章 練習 6 B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換另一個 Agent 再做一次，比較兩個 Agent 的腳本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72</a:t>
            </a:r>
            <a:endParaRPr lang="en-US" sz="1100" dirty="0"/>
          </a:p>
        </p:txBody>
      </p:sp>
      <p:sp>
        <p:nvSpPr>
          <p:cNvPr id="74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01 章 §12 練習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02 章 §6 練習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下一堂預告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80160"/>
            <a:ext cx="11002975" cy="3497326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24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第二堂：Slurm 與我的 skill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03 章：親手送出標準、陣列、相依作業，用 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seff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檢查資源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用自然語言請 Agent 多輪完成同樣的工作，並糾正它的錯誤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把經驗存成</a:t>
            </a: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你自己的 skill</a:t>
            </a: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2000" dirty="0">
                <a:solidFill>
                  <a:srgbClr val="111827"/>
                </a:solidFill>
                <a:highlight>
                  <a:srgbClr val="E8ECF2"/>
                </a:highlight>
                <a:latin typeface="Consolas" pitchFamily="34" charset="0"/>
                <a:ea typeface="Microsoft JhengHei" pitchFamily="34" charset="-122"/>
                <a:cs typeface="Consolas" pitchFamily="34" charset="-120"/>
              </a:rPr>
              <a:t>my-nano4-slurm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04 章：用自己的 skill 做 FASTQ 質控，和 Agent 一起讀懂報告</a:t>
            </a:r>
            <a:endParaRPr lang="en-US" sz="2400" dirty="0"/>
          </a:p>
          <a:p>
            <a:pPr indent="0" marL="0">
              <a:lnSpc>
                <a:spcPct val="105000"/>
              </a:lnSpc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📖 講義：</a:t>
            </a:r>
            <a:r>
              <a:rPr lang="en-US" sz="2000" u="sng" dirty="0">
                <a:solidFill>
                  <a:srgbClr val="1D4ED8"/>
                </a:solidFill>
                <a:latin typeface="Consolas" pitchFamily="34" charset="0"/>
                <a:ea typeface="Microsoft JhengHei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https://gemini960114.github.io/Nano4-Docs/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978654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謝謝大家！🙌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73</a:t>
            </a:r>
            <a:endParaRPr lang="en-US" sz="1100" dirty="0"/>
          </a:p>
        </p:txBody>
      </p:sp>
      <p:sp>
        <p:nvSpPr>
          <p:cNvPr id="6" name="doc-links"/>
          <p:cNvSpPr txBox="1"/>
          <p:nvPr/>
        </p:nvSpPr>
        <p:spPr>
          <a:xfrm>
            <a:off x="594360" y="64190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📖 講義：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第 03 章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第 04 章</a:t>
            </a:r>
            <a:r>
              <a:rPr sz="11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1100" b="0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  <a:hlinkClick r:id="rId6"/>
              </a:rPr>
              <a:t>課程規劃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Nano4 GP1 生醫 HPC 實戰課程：第一堂</dc:title>
  <dc:subject>PptxGenJS Presentation</dc:subject>
  <dc:creator>NCHC Nano4 課程</dc:creator>
  <cp:lastModifiedBy>NCHC Nano4 課程</cp:lastModifiedBy>
  <cp:revision>1</cp:revision>
  <dcterms:created xsi:type="dcterms:W3CDTF">2026-09-23T23:59:13Z</dcterms:created>
  <dcterms:modified xsi:type="dcterms:W3CDTF">2026-09-23T23:59:13Z</dcterms:modified>
</cp:coreProperties>
</file>